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autoCompressPictures="0">
  <p:sldMasterIdLst>
    <p:sldMasterId id="2147483669" r:id="rId4"/>
  </p:sldMasterIdLst>
  <p:notesMasterIdLst>
    <p:notesMasterId r:id="rId15"/>
  </p:notesMasterIdLst>
  <p:handoutMasterIdLst>
    <p:handoutMasterId r:id="rId16"/>
  </p:handoutMasterIdLst>
  <p:sldIdLst>
    <p:sldId id="256" r:id="rId5"/>
    <p:sldId id="257" r:id="rId6"/>
    <p:sldId id="259" r:id="rId7"/>
    <p:sldId id="264" r:id="rId8"/>
    <p:sldId id="258" r:id="rId9"/>
    <p:sldId id="266" r:id="rId10"/>
    <p:sldId id="267" r:id="rId11"/>
    <p:sldId id="268" r:id="rId12"/>
    <p:sldId id="269" r:id="rId13"/>
    <p:sldId id="270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  <p:ext uri="{2D200454-40CA-4A62-9FC3-DE9A4176ACB9}">
      <p15:notes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01" autoAdjust="0"/>
    <p:restoredTop sz="94660"/>
  </p:normalViewPr>
  <p:slideViewPr>
    <p:cSldViewPr snapToGrid="0">
      <p:cViewPr>
        <p:scale>
          <a:sx n="99" d="100"/>
          <a:sy n="99" d="100"/>
        </p:scale>
        <p:origin x="-120" y="18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0" d="100"/>
          <a:sy n="60" d="100"/>
        </p:scale>
        <p:origin x="1670" y="43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F9FC193-7A05-4631-B681-B56EAB543D38}" type="doc">
      <dgm:prSet loTypeId="urn:microsoft.com/office/officeart/2005/8/layout/h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857B86A-DEC1-407C-A1BB-5BF9ACCBCA6A}">
      <dgm:prSet phldrT="[Text]"/>
      <dgm:spPr/>
      <dgm:t>
        <a:bodyPr/>
        <a:lstStyle/>
        <a:p>
          <a:r>
            <a:rPr lang="en-US" b="1" dirty="0" smtClean="0"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Non-</a:t>
          </a:r>
          <a:r>
            <a:rPr lang="en-US" b="1" dirty="0" err="1" smtClean="0"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resuable</a:t>
          </a:r>
          <a:r>
            <a:rPr lang="en-US" b="1" dirty="0" smtClean="0"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 plastic</a:t>
          </a:r>
          <a:endParaRPr lang="en-US" b="1" dirty="0">
            <a:solidFill>
              <a:schemeClr val="tx1"/>
            </a:solidFill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8CA7BF9B-8199-4683-AD57-CB0086659013}" type="parTrans" cxnId="{B12F0503-977A-4B5D-8CB7-420B041FF863}">
      <dgm:prSet/>
      <dgm:spPr/>
      <dgm:t>
        <a:bodyPr/>
        <a:lstStyle/>
        <a:p>
          <a:endParaRPr lang="en-US"/>
        </a:p>
      </dgm:t>
    </dgm:pt>
    <dgm:pt modelId="{F087F24E-A7D7-4DCE-B2A7-9B941289621A}" type="sibTrans" cxnId="{B12F0503-977A-4B5D-8CB7-420B041FF863}">
      <dgm:prSet/>
      <dgm:spPr/>
      <dgm:t>
        <a:bodyPr/>
        <a:lstStyle/>
        <a:p>
          <a:endParaRPr lang="en-US"/>
        </a:p>
      </dgm:t>
    </dgm:pt>
    <dgm:pt modelId="{4C8BFA56-3F75-4CAD-90A3-2F214D699322}">
      <dgm:prSet phldrT="[Text]"/>
      <dgm:spPr/>
      <dgm:t>
        <a:bodyPr/>
        <a:lstStyle/>
        <a:p>
          <a:pPr>
            <a:buFont typeface="Wingdings" panose="05000000000000000000" pitchFamily="2" charset="2"/>
            <a:buNone/>
          </a:pPr>
          <a:r>
            <a:rPr lang="en-US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Cannot be destroyed</a:t>
          </a:r>
          <a:endParaRPr lang="en-US" dirty="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9A6E3B20-A734-4412-84CF-0134D93D4B28}" type="parTrans" cxnId="{4CD5FCDD-1F8A-43A3-BD77-CBE3B3864C41}">
      <dgm:prSet/>
      <dgm:spPr/>
      <dgm:t>
        <a:bodyPr/>
        <a:lstStyle/>
        <a:p>
          <a:endParaRPr lang="en-US"/>
        </a:p>
      </dgm:t>
    </dgm:pt>
    <dgm:pt modelId="{7B50916F-B8BA-427F-B9F0-A301E54D7FB3}" type="sibTrans" cxnId="{4CD5FCDD-1F8A-43A3-BD77-CBE3B3864C41}">
      <dgm:prSet/>
      <dgm:spPr/>
      <dgm:t>
        <a:bodyPr/>
        <a:lstStyle/>
        <a:p>
          <a:endParaRPr lang="en-US"/>
        </a:p>
      </dgm:t>
    </dgm:pt>
    <dgm:pt modelId="{ABA77F75-8642-4931-8D7E-BE6C6DB9940D}">
      <dgm:prSet phldrT="[Text]"/>
      <dgm:spPr/>
      <dgm:t>
        <a:bodyPr/>
        <a:lstStyle/>
        <a:p>
          <a:r>
            <a:rPr lang="en-US" b="1" dirty="0" smtClean="0"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My Idea</a:t>
          </a:r>
          <a:endParaRPr lang="en-US" b="1" dirty="0">
            <a:solidFill>
              <a:schemeClr val="tx1"/>
            </a:solidFill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FCF9AE1B-B22B-4F91-BFD8-DDBBF762F128}" type="parTrans" cxnId="{D959B3EA-A66A-4B40-901C-93ECD4985A93}">
      <dgm:prSet/>
      <dgm:spPr/>
      <dgm:t>
        <a:bodyPr/>
        <a:lstStyle/>
        <a:p>
          <a:endParaRPr lang="en-US"/>
        </a:p>
      </dgm:t>
    </dgm:pt>
    <dgm:pt modelId="{1A095211-ADB0-42CA-9F24-F1BC942872F3}" type="sibTrans" cxnId="{D959B3EA-A66A-4B40-901C-93ECD4985A93}">
      <dgm:prSet/>
      <dgm:spPr/>
      <dgm:t>
        <a:bodyPr/>
        <a:lstStyle/>
        <a:p>
          <a:endParaRPr lang="en-US"/>
        </a:p>
      </dgm:t>
    </dgm:pt>
    <dgm:pt modelId="{611C3B18-07F8-4A66-9682-97E24AEF6014}">
      <dgm:prSet phldrT="[Text]"/>
      <dgm:spPr/>
      <dgm:t>
        <a:bodyPr/>
        <a:lstStyle/>
        <a:p>
          <a:pPr>
            <a:buFont typeface="Wingdings" panose="05000000000000000000" pitchFamily="2" charset="2"/>
            <a:buChar char=""/>
          </a:pPr>
          <a:r>
            <a:rPr lang="en-US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Converts plastic into compressed blocks.</a:t>
          </a:r>
          <a:endParaRPr lang="en-US" dirty="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5940BF2D-F08A-4150-9A86-173D9242DE8C}" type="parTrans" cxnId="{D5D61B4C-1312-427C-BDCC-013237D8A488}">
      <dgm:prSet/>
      <dgm:spPr/>
      <dgm:t>
        <a:bodyPr/>
        <a:lstStyle/>
        <a:p>
          <a:endParaRPr lang="en-US"/>
        </a:p>
      </dgm:t>
    </dgm:pt>
    <dgm:pt modelId="{477660C6-2B6D-4FB8-B9A3-D555E2082C2A}" type="sibTrans" cxnId="{D5D61B4C-1312-427C-BDCC-013237D8A488}">
      <dgm:prSet/>
      <dgm:spPr/>
      <dgm:t>
        <a:bodyPr/>
        <a:lstStyle/>
        <a:p>
          <a:endParaRPr lang="en-US"/>
        </a:p>
      </dgm:t>
    </dgm:pt>
    <dgm:pt modelId="{ACA65FAA-A8B0-4B30-A137-4D8AAC13CF0F}">
      <dgm:prSet phldrT="[Text]"/>
      <dgm:spPr/>
      <dgm:t>
        <a:bodyPr/>
        <a:lstStyle/>
        <a:p>
          <a:pPr>
            <a:buFont typeface="Wingdings" panose="05000000000000000000" pitchFamily="2" charset="2"/>
            <a:buNone/>
          </a:pPr>
          <a:r>
            <a:rPr lang="en-US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Cannot be melted (thermoset plastics)</a:t>
          </a:r>
          <a:endParaRPr lang="en-US" dirty="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B75C0DD9-B663-4F02-905B-9E483F858FCF}" type="parTrans" cxnId="{6EB9F1E2-4D4F-4EE3-9D70-0E9FA73D0082}">
      <dgm:prSet/>
      <dgm:spPr/>
      <dgm:t>
        <a:bodyPr/>
        <a:lstStyle/>
        <a:p>
          <a:endParaRPr lang="en-US"/>
        </a:p>
      </dgm:t>
    </dgm:pt>
    <dgm:pt modelId="{DECD6628-005C-4F3B-8751-4B40D1B3C40C}" type="sibTrans" cxnId="{6EB9F1E2-4D4F-4EE3-9D70-0E9FA73D0082}">
      <dgm:prSet/>
      <dgm:spPr/>
      <dgm:t>
        <a:bodyPr/>
        <a:lstStyle/>
        <a:p>
          <a:endParaRPr lang="en-US"/>
        </a:p>
      </dgm:t>
    </dgm:pt>
    <dgm:pt modelId="{5FA4ABF5-975E-45E1-B0D8-724DA1259F54}">
      <dgm:prSet phldrT="[Text]"/>
      <dgm:spPr/>
      <dgm:t>
        <a:bodyPr/>
        <a:lstStyle/>
        <a:p>
          <a:pPr>
            <a:buFont typeface="Wingdings" panose="05000000000000000000" pitchFamily="2" charset="2"/>
            <a:buNone/>
          </a:pPr>
          <a:r>
            <a:rPr lang="en-US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Cannot be recycled</a:t>
          </a:r>
          <a:endParaRPr lang="en-US" dirty="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C3AE9631-CC2C-4D66-8B38-5EABFA9923CD}" type="parTrans" cxnId="{4B50ED54-E92F-4849-AE6F-0B5941FCAC50}">
      <dgm:prSet/>
      <dgm:spPr/>
      <dgm:t>
        <a:bodyPr/>
        <a:lstStyle/>
        <a:p>
          <a:endParaRPr lang="en-US"/>
        </a:p>
      </dgm:t>
    </dgm:pt>
    <dgm:pt modelId="{33326B07-9BFB-4C71-ACDA-9C23EE3989EC}" type="sibTrans" cxnId="{4B50ED54-E92F-4849-AE6F-0B5941FCAC50}">
      <dgm:prSet/>
      <dgm:spPr/>
      <dgm:t>
        <a:bodyPr/>
        <a:lstStyle/>
        <a:p>
          <a:endParaRPr lang="en-US"/>
        </a:p>
      </dgm:t>
    </dgm:pt>
    <dgm:pt modelId="{164E10B7-1B09-493D-94BA-F52680DA2C20}">
      <dgm:prSet phldrT="[Text]"/>
      <dgm:spPr/>
      <dgm:t>
        <a:bodyPr/>
        <a:lstStyle/>
        <a:p>
          <a:pPr>
            <a:buFont typeface="Wingdings" panose="05000000000000000000" pitchFamily="2" charset="2"/>
            <a:buNone/>
          </a:pPr>
          <a:r>
            <a:rPr lang="en-US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Fill up landfills</a:t>
          </a:r>
          <a:endParaRPr lang="en-US" dirty="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D1831B75-056D-4226-8944-E916EB76A8C5}" type="parTrans" cxnId="{CA665EC3-D84A-4D65-B5D5-11A7B17EE939}">
      <dgm:prSet/>
      <dgm:spPr/>
      <dgm:t>
        <a:bodyPr/>
        <a:lstStyle/>
        <a:p>
          <a:endParaRPr lang="en-US"/>
        </a:p>
      </dgm:t>
    </dgm:pt>
    <dgm:pt modelId="{289E0B85-4F62-4BE6-ABB8-E8591787324D}" type="sibTrans" cxnId="{CA665EC3-D84A-4D65-B5D5-11A7B17EE939}">
      <dgm:prSet/>
      <dgm:spPr/>
      <dgm:t>
        <a:bodyPr/>
        <a:lstStyle/>
        <a:p>
          <a:endParaRPr lang="en-US"/>
        </a:p>
      </dgm:t>
    </dgm:pt>
    <dgm:pt modelId="{64FC6DFA-96FA-492B-8D1E-E73D1F112F2B}">
      <dgm:prSet phldrT="[Text]"/>
      <dgm:spPr/>
      <dgm:t>
        <a:bodyPr/>
        <a:lstStyle/>
        <a:p>
          <a:pPr>
            <a:buFont typeface="Wingdings" panose="05000000000000000000" pitchFamily="2" charset="2"/>
            <a:buNone/>
          </a:pPr>
          <a:r>
            <a:rPr lang="en-US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Release toxic fumes when burned.</a:t>
          </a:r>
          <a:endParaRPr lang="en-US" dirty="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ED8D4C04-297A-4618-96D5-5136A6B8A370}" type="parTrans" cxnId="{7B3E09F8-E1C0-4D36-B602-651E00C2BFF5}">
      <dgm:prSet/>
      <dgm:spPr/>
      <dgm:t>
        <a:bodyPr/>
        <a:lstStyle/>
        <a:p>
          <a:endParaRPr lang="en-US"/>
        </a:p>
      </dgm:t>
    </dgm:pt>
    <dgm:pt modelId="{66EB2D40-AEF5-4738-BC77-EA578371D2FA}" type="sibTrans" cxnId="{7B3E09F8-E1C0-4D36-B602-651E00C2BFF5}">
      <dgm:prSet/>
      <dgm:spPr/>
      <dgm:t>
        <a:bodyPr/>
        <a:lstStyle/>
        <a:p>
          <a:endParaRPr lang="en-US"/>
        </a:p>
      </dgm:t>
    </dgm:pt>
    <dgm:pt modelId="{15490AAA-C471-4A5E-B53C-1808B15CAA66}">
      <dgm:prSet phldrT="[Text]"/>
      <dgm:spPr/>
      <dgm:t>
        <a:bodyPr/>
        <a:lstStyle/>
        <a:p>
          <a:pPr>
            <a:buFont typeface="Wingdings" panose="05000000000000000000" pitchFamily="2" charset="2"/>
            <a:buChar char=""/>
          </a:pPr>
          <a:r>
            <a:rPr lang="en-US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Places them in the house foundation.</a:t>
          </a:r>
          <a:endParaRPr lang="en-US" dirty="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15E8DCD7-8D41-4F86-A52E-175D939CA988}" type="parTrans" cxnId="{5706C417-0792-41F1-9813-B72953DCABD2}">
      <dgm:prSet/>
      <dgm:spPr/>
      <dgm:t>
        <a:bodyPr/>
        <a:lstStyle/>
        <a:p>
          <a:endParaRPr lang="en-US"/>
        </a:p>
      </dgm:t>
    </dgm:pt>
    <dgm:pt modelId="{37A9642B-35DC-448A-8BD3-866677B7BA20}" type="sibTrans" cxnId="{5706C417-0792-41F1-9813-B72953DCABD2}">
      <dgm:prSet/>
      <dgm:spPr/>
      <dgm:t>
        <a:bodyPr/>
        <a:lstStyle/>
        <a:p>
          <a:endParaRPr lang="en-US"/>
        </a:p>
      </dgm:t>
    </dgm:pt>
    <dgm:pt modelId="{DB3285AB-95CE-45FB-9264-C13676F44441}">
      <dgm:prSet phldrT="[Text]"/>
      <dgm:spPr/>
      <dgm:t>
        <a:bodyPr/>
        <a:lstStyle/>
        <a:p>
          <a:pPr>
            <a:buFont typeface="Wingdings" panose="05000000000000000000" pitchFamily="2" charset="2"/>
            <a:buChar char=""/>
          </a:pPr>
          <a:r>
            <a:rPr lang="en-US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Compact with soil for zero voids</a:t>
          </a:r>
          <a:endParaRPr lang="en-US" dirty="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B868B244-51A7-40B6-9D58-6E903FD74EBE}" type="parTrans" cxnId="{8A7304D6-A0FB-42C4-8222-2CEA921D43CA}">
      <dgm:prSet/>
      <dgm:spPr/>
      <dgm:t>
        <a:bodyPr/>
        <a:lstStyle/>
        <a:p>
          <a:endParaRPr lang="en-US"/>
        </a:p>
      </dgm:t>
    </dgm:pt>
    <dgm:pt modelId="{1ED7F4BF-0766-4EF2-8BBC-17872964963E}" type="sibTrans" cxnId="{8A7304D6-A0FB-42C4-8222-2CEA921D43CA}">
      <dgm:prSet/>
      <dgm:spPr/>
      <dgm:t>
        <a:bodyPr/>
        <a:lstStyle/>
        <a:p>
          <a:endParaRPr lang="en-US"/>
        </a:p>
      </dgm:t>
    </dgm:pt>
    <dgm:pt modelId="{1F02206B-51D0-49FF-8925-A459CE537AF9}">
      <dgm:prSet phldrT="[Text]"/>
      <dgm:spPr/>
      <dgm:t>
        <a:bodyPr/>
        <a:lstStyle/>
        <a:p>
          <a:pPr>
            <a:buFont typeface="Wingdings" panose="05000000000000000000" pitchFamily="2" charset="2"/>
            <a:buChar char=""/>
          </a:pPr>
          <a:r>
            <a:rPr lang="en-US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Permanently seal plastic underground.</a:t>
          </a:r>
          <a:endParaRPr lang="en-US" dirty="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44231B4A-949C-41A4-8157-64C447A4C7C6}" type="parTrans" cxnId="{D2CDE893-0A3F-474D-9011-4B6494A507DA}">
      <dgm:prSet/>
      <dgm:spPr/>
      <dgm:t>
        <a:bodyPr/>
        <a:lstStyle/>
        <a:p>
          <a:endParaRPr lang="en-US"/>
        </a:p>
      </dgm:t>
    </dgm:pt>
    <dgm:pt modelId="{3E32C713-257C-4A54-AA67-D858706AC78F}" type="sibTrans" cxnId="{D2CDE893-0A3F-474D-9011-4B6494A507DA}">
      <dgm:prSet/>
      <dgm:spPr/>
      <dgm:t>
        <a:bodyPr/>
        <a:lstStyle/>
        <a:p>
          <a:endParaRPr lang="en-US"/>
        </a:p>
      </dgm:t>
    </dgm:pt>
    <dgm:pt modelId="{DE3F77CF-6A8C-4783-A2CE-00E88C4199CB}" type="pres">
      <dgm:prSet presAssocID="{CF9FC193-7A05-4631-B681-B56EAB543D38}" presName="Name0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4E69B62D-7E76-4E06-9330-583771E53BDE}" type="pres">
      <dgm:prSet presAssocID="{6857B86A-DEC1-407C-A1BB-5BF9ACCBCA6A}" presName="composite" presStyleCnt="0"/>
      <dgm:spPr/>
    </dgm:pt>
    <dgm:pt modelId="{F0C1B2C7-0B23-4FE8-AB0F-5877B88532DB}" type="pres">
      <dgm:prSet presAssocID="{6857B86A-DEC1-407C-A1BB-5BF9ACCBCA6A}" presName="parTx" presStyleLbl="alignNode1" presStyleIdx="0" presStyleCnt="2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7CA1487-CDD9-4364-92F6-A11DBDAFE16C}" type="pres">
      <dgm:prSet presAssocID="{6857B86A-DEC1-407C-A1BB-5BF9ACCBCA6A}" presName="desTx" presStyleLbl="alignAccFollowNode1" presStyleIdx="0" presStyleCnt="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FA24A66-31D3-4A69-B628-8BE88627B97D}" type="pres">
      <dgm:prSet presAssocID="{F087F24E-A7D7-4DCE-B2A7-9B941289621A}" presName="space" presStyleCnt="0"/>
      <dgm:spPr/>
    </dgm:pt>
    <dgm:pt modelId="{3B158D6E-E3AA-49BB-988A-758B59ED8F3B}" type="pres">
      <dgm:prSet presAssocID="{ABA77F75-8642-4931-8D7E-BE6C6DB9940D}" presName="composite" presStyleCnt="0"/>
      <dgm:spPr/>
    </dgm:pt>
    <dgm:pt modelId="{055A5EAB-EAE0-4501-8649-31F112FF9AD5}" type="pres">
      <dgm:prSet presAssocID="{ABA77F75-8642-4931-8D7E-BE6C6DB9940D}" presName="parTx" presStyleLbl="alignNode1" presStyleIdx="1" presStyleCnt="2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4FD5043-5612-43C5-B6AE-CCD431549399}" type="pres">
      <dgm:prSet presAssocID="{ABA77F75-8642-4931-8D7E-BE6C6DB9940D}" presName="desTx" presStyleLbl="alignAccFollowNode1" presStyleIdx="1" presStyleCnt="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D959B3EA-A66A-4B40-901C-93ECD4985A93}" srcId="{CF9FC193-7A05-4631-B681-B56EAB543D38}" destId="{ABA77F75-8642-4931-8D7E-BE6C6DB9940D}" srcOrd="1" destOrd="0" parTransId="{FCF9AE1B-B22B-4F91-BFD8-DDBBF762F128}" sibTransId="{1A095211-ADB0-42CA-9F24-F1BC942872F3}"/>
    <dgm:cxn modelId="{CA665EC3-D84A-4D65-B5D5-11A7B17EE939}" srcId="{6857B86A-DEC1-407C-A1BB-5BF9ACCBCA6A}" destId="{164E10B7-1B09-493D-94BA-F52680DA2C20}" srcOrd="3" destOrd="0" parTransId="{D1831B75-056D-4226-8944-E916EB76A8C5}" sibTransId="{289E0B85-4F62-4BE6-ABB8-E8591787324D}"/>
    <dgm:cxn modelId="{4CD5FCDD-1F8A-43A3-BD77-CBE3B3864C41}" srcId="{6857B86A-DEC1-407C-A1BB-5BF9ACCBCA6A}" destId="{4C8BFA56-3F75-4CAD-90A3-2F214D699322}" srcOrd="0" destOrd="0" parTransId="{9A6E3B20-A734-4412-84CF-0134D93D4B28}" sibTransId="{7B50916F-B8BA-427F-B9F0-A301E54D7FB3}"/>
    <dgm:cxn modelId="{4BF1EEA1-6E89-4F91-BAE8-11038685C515}" type="presOf" srcId="{4C8BFA56-3F75-4CAD-90A3-2F214D699322}" destId="{17CA1487-CDD9-4364-92F6-A11DBDAFE16C}" srcOrd="0" destOrd="0" presId="urn:microsoft.com/office/officeart/2005/8/layout/hList1"/>
    <dgm:cxn modelId="{CEC7E59B-2CB9-4F95-913D-14C6D86A46C0}" type="presOf" srcId="{1F02206B-51D0-49FF-8925-A459CE537AF9}" destId="{E4FD5043-5612-43C5-B6AE-CCD431549399}" srcOrd="0" destOrd="3" presId="urn:microsoft.com/office/officeart/2005/8/layout/hList1"/>
    <dgm:cxn modelId="{7B3E09F8-E1C0-4D36-B602-651E00C2BFF5}" srcId="{6857B86A-DEC1-407C-A1BB-5BF9ACCBCA6A}" destId="{64FC6DFA-96FA-492B-8D1E-E73D1F112F2B}" srcOrd="4" destOrd="0" parTransId="{ED8D4C04-297A-4618-96D5-5136A6B8A370}" sibTransId="{66EB2D40-AEF5-4738-BC77-EA578371D2FA}"/>
    <dgm:cxn modelId="{717FEFF0-F2A3-4C9E-9934-6884403AA2B2}" type="presOf" srcId="{DB3285AB-95CE-45FB-9264-C13676F44441}" destId="{E4FD5043-5612-43C5-B6AE-CCD431549399}" srcOrd="0" destOrd="2" presId="urn:microsoft.com/office/officeart/2005/8/layout/hList1"/>
    <dgm:cxn modelId="{B12F0503-977A-4B5D-8CB7-420B041FF863}" srcId="{CF9FC193-7A05-4631-B681-B56EAB543D38}" destId="{6857B86A-DEC1-407C-A1BB-5BF9ACCBCA6A}" srcOrd="0" destOrd="0" parTransId="{8CA7BF9B-8199-4683-AD57-CB0086659013}" sibTransId="{F087F24E-A7D7-4DCE-B2A7-9B941289621A}"/>
    <dgm:cxn modelId="{4E21C5D3-FA97-4E62-8CC9-01B68E76021E}" type="presOf" srcId="{ABA77F75-8642-4931-8D7E-BE6C6DB9940D}" destId="{055A5EAB-EAE0-4501-8649-31F112FF9AD5}" srcOrd="0" destOrd="0" presId="urn:microsoft.com/office/officeart/2005/8/layout/hList1"/>
    <dgm:cxn modelId="{4B50ED54-E92F-4849-AE6F-0B5941FCAC50}" srcId="{6857B86A-DEC1-407C-A1BB-5BF9ACCBCA6A}" destId="{5FA4ABF5-975E-45E1-B0D8-724DA1259F54}" srcOrd="2" destOrd="0" parTransId="{C3AE9631-CC2C-4D66-8B38-5EABFA9923CD}" sibTransId="{33326B07-9BFB-4C71-ACDA-9C23EE3989EC}"/>
    <dgm:cxn modelId="{5F12E8B9-000C-441B-B9E7-99ED7A20363B}" type="presOf" srcId="{6857B86A-DEC1-407C-A1BB-5BF9ACCBCA6A}" destId="{F0C1B2C7-0B23-4FE8-AB0F-5877B88532DB}" srcOrd="0" destOrd="0" presId="urn:microsoft.com/office/officeart/2005/8/layout/hList1"/>
    <dgm:cxn modelId="{8994BB53-F8CB-4453-908B-85766111E9CE}" type="presOf" srcId="{64FC6DFA-96FA-492B-8D1E-E73D1F112F2B}" destId="{17CA1487-CDD9-4364-92F6-A11DBDAFE16C}" srcOrd="0" destOrd="4" presId="urn:microsoft.com/office/officeart/2005/8/layout/hList1"/>
    <dgm:cxn modelId="{D2CDE893-0A3F-474D-9011-4B6494A507DA}" srcId="{ABA77F75-8642-4931-8D7E-BE6C6DB9940D}" destId="{1F02206B-51D0-49FF-8925-A459CE537AF9}" srcOrd="3" destOrd="0" parTransId="{44231B4A-949C-41A4-8157-64C447A4C7C6}" sibTransId="{3E32C713-257C-4A54-AA67-D858706AC78F}"/>
    <dgm:cxn modelId="{2CFC02EC-D36D-49DE-893C-0EA2D1B85990}" type="presOf" srcId="{5FA4ABF5-975E-45E1-B0D8-724DA1259F54}" destId="{17CA1487-CDD9-4364-92F6-A11DBDAFE16C}" srcOrd="0" destOrd="2" presId="urn:microsoft.com/office/officeart/2005/8/layout/hList1"/>
    <dgm:cxn modelId="{5706C417-0792-41F1-9813-B72953DCABD2}" srcId="{ABA77F75-8642-4931-8D7E-BE6C6DB9940D}" destId="{15490AAA-C471-4A5E-B53C-1808B15CAA66}" srcOrd="1" destOrd="0" parTransId="{15E8DCD7-8D41-4F86-A52E-175D939CA988}" sibTransId="{37A9642B-35DC-448A-8BD3-866677B7BA20}"/>
    <dgm:cxn modelId="{6EB9F1E2-4D4F-4EE3-9D70-0E9FA73D0082}" srcId="{6857B86A-DEC1-407C-A1BB-5BF9ACCBCA6A}" destId="{ACA65FAA-A8B0-4B30-A137-4D8AAC13CF0F}" srcOrd="1" destOrd="0" parTransId="{B75C0DD9-B663-4F02-905B-9E483F858FCF}" sibTransId="{DECD6628-005C-4F3B-8751-4B40D1B3C40C}"/>
    <dgm:cxn modelId="{D5D61B4C-1312-427C-BDCC-013237D8A488}" srcId="{ABA77F75-8642-4931-8D7E-BE6C6DB9940D}" destId="{611C3B18-07F8-4A66-9682-97E24AEF6014}" srcOrd="0" destOrd="0" parTransId="{5940BF2D-F08A-4150-9A86-173D9242DE8C}" sibTransId="{477660C6-2B6D-4FB8-B9A3-D555E2082C2A}"/>
    <dgm:cxn modelId="{8A7304D6-A0FB-42C4-8222-2CEA921D43CA}" srcId="{ABA77F75-8642-4931-8D7E-BE6C6DB9940D}" destId="{DB3285AB-95CE-45FB-9264-C13676F44441}" srcOrd="2" destOrd="0" parTransId="{B868B244-51A7-40B6-9D58-6E903FD74EBE}" sibTransId="{1ED7F4BF-0766-4EF2-8BBC-17872964963E}"/>
    <dgm:cxn modelId="{58D887E9-04DA-4285-827F-DA6F12BD080E}" type="presOf" srcId="{611C3B18-07F8-4A66-9682-97E24AEF6014}" destId="{E4FD5043-5612-43C5-B6AE-CCD431549399}" srcOrd="0" destOrd="0" presId="urn:microsoft.com/office/officeart/2005/8/layout/hList1"/>
    <dgm:cxn modelId="{AAECF784-8F1D-4908-B93D-837F49AB8751}" type="presOf" srcId="{CF9FC193-7A05-4631-B681-B56EAB543D38}" destId="{DE3F77CF-6A8C-4783-A2CE-00E88C4199CB}" srcOrd="0" destOrd="0" presId="urn:microsoft.com/office/officeart/2005/8/layout/hList1"/>
    <dgm:cxn modelId="{4522F85B-B84F-4D57-8C19-FA26DBDDA7A4}" type="presOf" srcId="{164E10B7-1B09-493D-94BA-F52680DA2C20}" destId="{17CA1487-CDD9-4364-92F6-A11DBDAFE16C}" srcOrd="0" destOrd="3" presId="urn:microsoft.com/office/officeart/2005/8/layout/hList1"/>
    <dgm:cxn modelId="{5FF57891-DE0C-4A90-9BF6-DEF671D1A7D5}" type="presOf" srcId="{15490AAA-C471-4A5E-B53C-1808B15CAA66}" destId="{E4FD5043-5612-43C5-B6AE-CCD431549399}" srcOrd="0" destOrd="1" presId="urn:microsoft.com/office/officeart/2005/8/layout/hList1"/>
    <dgm:cxn modelId="{8317D559-4CFD-4B67-B196-313392F92D88}" type="presOf" srcId="{ACA65FAA-A8B0-4B30-A137-4D8AAC13CF0F}" destId="{17CA1487-CDD9-4364-92F6-A11DBDAFE16C}" srcOrd="0" destOrd="1" presId="urn:microsoft.com/office/officeart/2005/8/layout/hList1"/>
    <dgm:cxn modelId="{1F4D79B9-0A03-4486-BB92-D4BA991ED70D}" type="presParOf" srcId="{DE3F77CF-6A8C-4783-A2CE-00E88C4199CB}" destId="{4E69B62D-7E76-4E06-9330-583771E53BDE}" srcOrd="0" destOrd="0" presId="urn:microsoft.com/office/officeart/2005/8/layout/hList1"/>
    <dgm:cxn modelId="{EFFE150E-7CB3-4A38-AC57-820444F8E7BA}" type="presParOf" srcId="{4E69B62D-7E76-4E06-9330-583771E53BDE}" destId="{F0C1B2C7-0B23-4FE8-AB0F-5877B88532DB}" srcOrd="0" destOrd="0" presId="urn:microsoft.com/office/officeart/2005/8/layout/hList1"/>
    <dgm:cxn modelId="{332F5817-5A55-4FC1-BA35-DBB23A0AD13C}" type="presParOf" srcId="{4E69B62D-7E76-4E06-9330-583771E53BDE}" destId="{17CA1487-CDD9-4364-92F6-A11DBDAFE16C}" srcOrd="1" destOrd="0" presId="urn:microsoft.com/office/officeart/2005/8/layout/hList1"/>
    <dgm:cxn modelId="{697E9D8E-F51C-4123-B62B-291815C4E7C1}" type="presParOf" srcId="{DE3F77CF-6A8C-4783-A2CE-00E88C4199CB}" destId="{3FA24A66-31D3-4A69-B628-8BE88627B97D}" srcOrd="1" destOrd="0" presId="urn:microsoft.com/office/officeart/2005/8/layout/hList1"/>
    <dgm:cxn modelId="{A09CCE6C-77C7-4B5A-B9DA-7E705F8B286E}" type="presParOf" srcId="{DE3F77CF-6A8C-4783-A2CE-00E88C4199CB}" destId="{3B158D6E-E3AA-49BB-988A-758B59ED8F3B}" srcOrd="2" destOrd="0" presId="urn:microsoft.com/office/officeart/2005/8/layout/hList1"/>
    <dgm:cxn modelId="{817F5423-5421-4F7E-968E-B3D3A624058B}" type="presParOf" srcId="{3B158D6E-E3AA-49BB-988A-758B59ED8F3B}" destId="{055A5EAB-EAE0-4501-8649-31F112FF9AD5}" srcOrd="0" destOrd="0" presId="urn:microsoft.com/office/officeart/2005/8/layout/hList1"/>
    <dgm:cxn modelId="{63113D3E-83F3-4A52-BAD6-246138FEC15C}" type="presParOf" srcId="{3B158D6E-E3AA-49BB-988A-758B59ED8F3B}" destId="{E4FD5043-5612-43C5-B6AE-CCD431549399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F82CA11-0E99-433C-A965-44DA7D91DC2F}" type="doc">
      <dgm:prSet loTypeId="urn:microsoft.com/office/officeart/2005/8/layout/cycle6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3B39D19-C821-4CA3-BD0C-BDA5C455E130}">
      <dgm:prSet phldrT="[Text]" custT="1"/>
      <dgm:spPr/>
      <dgm:t>
        <a:bodyPr/>
        <a:lstStyle/>
        <a:p>
          <a:pPr algn="ctr"/>
          <a:r>
            <a:rPr lang="en-US" sz="1600" b="1" dirty="0" smtClean="0">
              <a:solidFill>
                <a:srgbClr val="FFFF00"/>
              </a:solidFill>
            </a:rPr>
            <a:t>Step 1: Collect non </a:t>
          </a:r>
          <a:r>
            <a:rPr lang="en-US" sz="1600" b="1" dirty="0" err="1" smtClean="0">
              <a:solidFill>
                <a:srgbClr val="FFFF00"/>
              </a:solidFill>
            </a:rPr>
            <a:t>resuable</a:t>
          </a:r>
          <a:r>
            <a:rPr lang="en-US" sz="1600" b="1" dirty="0" smtClean="0">
              <a:solidFill>
                <a:srgbClr val="FFFF00"/>
              </a:solidFill>
            </a:rPr>
            <a:t> plastics</a:t>
          </a:r>
        </a:p>
        <a:p>
          <a:pPr algn="ctr"/>
          <a:endParaRPr lang="en-US" sz="1600" b="1" dirty="0" smtClean="0"/>
        </a:p>
        <a:p>
          <a:pPr algn="l"/>
          <a:r>
            <a:rPr lang="en-US" sz="1600" dirty="0" smtClean="0"/>
            <a:t>1. Thermoset plastic</a:t>
          </a:r>
        </a:p>
        <a:p>
          <a:pPr algn="l"/>
          <a:r>
            <a:rPr lang="en-US" sz="1600" dirty="0" smtClean="0"/>
            <a:t>2. Hard plastic</a:t>
          </a:r>
        </a:p>
        <a:p>
          <a:pPr algn="l"/>
          <a:r>
            <a:rPr lang="en-US" sz="1600" dirty="0" smtClean="0"/>
            <a:t>3. </a:t>
          </a:r>
          <a:r>
            <a:rPr lang="en-US" sz="1600" dirty="0" err="1" smtClean="0"/>
            <a:t>Vechicle</a:t>
          </a:r>
          <a:r>
            <a:rPr lang="en-US" sz="1600" dirty="0" smtClean="0"/>
            <a:t> fiber plastic</a:t>
          </a:r>
        </a:p>
        <a:p>
          <a:pPr algn="l"/>
          <a:r>
            <a:rPr lang="en-US" sz="1600" dirty="0" smtClean="0"/>
            <a:t>4. Injection molding waste </a:t>
          </a:r>
        </a:p>
      </dgm:t>
    </dgm:pt>
    <dgm:pt modelId="{727F7539-8490-4AE7-8171-282AC368ABE4}" type="parTrans" cxnId="{E89A0119-547E-46BC-AC9A-65051099884E}">
      <dgm:prSet/>
      <dgm:spPr/>
      <dgm:t>
        <a:bodyPr/>
        <a:lstStyle/>
        <a:p>
          <a:endParaRPr lang="en-US"/>
        </a:p>
      </dgm:t>
    </dgm:pt>
    <dgm:pt modelId="{9EFD6C50-9880-48EF-95CB-FDA7D8154BD8}" type="sibTrans" cxnId="{E89A0119-547E-46BC-AC9A-65051099884E}">
      <dgm:prSet/>
      <dgm:spPr/>
      <dgm:t>
        <a:bodyPr/>
        <a:lstStyle/>
        <a:p>
          <a:endParaRPr lang="en-US"/>
        </a:p>
      </dgm:t>
    </dgm:pt>
    <dgm:pt modelId="{8CEB9829-1FB0-431F-856E-A99878D15537}">
      <dgm:prSet phldrT="[Text]" custT="1"/>
      <dgm:spPr/>
      <dgm:t>
        <a:bodyPr/>
        <a:lstStyle/>
        <a:p>
          <a:pPr algn="l"/>
          <a:r>
            <a:rPr lang="en-US" sz="1600" b="1" dirty="0" smtClean="0"/>
            <a:t>	</a:t>
          </a:r>
          <a:r>
            <a:rPr lang="en-US" sz="1600" b="1" dirty="0" smtClean="0">
              <a:solidFill>
                <a:srgbClr val="FFFF00"/>
              </a:solidFill>
            </a:rPr>
            <a:t>Step 2: compression</a:t>
          </a:r>
        </a:p>
        <a:p>
          <a:pPr algn="l"/>
          <a:endParaRPr lang="en-US" sz="1600" b="1" dirty="0" smtClean="0"/>
        </a:p>
        <a:p>
          <a:pPr algn="l"/>
          <a:r>
            <a:rPr lang="en-US" sz="1600" dirty="0" smtClean="0"/>
            <a:t>1. Plastic is compressed using a hydraulic press.</a:t>
          </a:r>
        </a:p>
        <a:p>
          <a:pPr algn="l"/>
          <a:r>
            <a:rPr lang="en-US" sz="1600" dirty="0" smtClean="0"/>
            <a:t>2. Compression ratio: 1:5</a:t>
          </a:r>
        </a:p>
        <a:p>
          <a:pPr algn="l"/>
          <a:r>
            <a:rPr lang="en-US" sz="1600" dirty="0" smtClean="0"/>
            <a:t>3. Block density: 400-600 </a:t>
          </a:r>
          <a:r>
            <a:rPr lang="en-US" sz="1600" dirty="0" smtClean="0"/>
            <a:t>kg/</a:t>
          </a:r>
          <a:r>
            <a:rPr lang="en-US" sz="1600" dirty="0" smtClean="0"/>
            <a:t>m</a:t>
          </a:r>
          <a:r>
            <a:rPr lang="en-US" sz="1600" baseline="30000" dirty="0" smtClean="0"/>
            <a:t>3</a:t>
          </a:r>
          <a:r>
            <a:rPr lang="en-US" sz="1600" dirty="0" smtClean="0"/>
            <a:t>    </a:t>
          </a:r>
          <a:endParaRPr lang="en-US" sz="1600" dirty="0"/>
        </a:p>
      </dgm:t>
    </dgm:pt>
    <dgm:pt modelId="{B037562C-71D5-4A6E-8241-7F82254D03C0}" type="parTrans" cxnId="{6C56162C-2F08-4CB6-9F8E-FBB12927A8A3}">
      <dgm:prSet/>
      <dgm:spPr/>
      <dgm:t>
        <a:bodyPr/>
        <a:lstStyle/>
        <a:p>
          <a:endParaRPr lang="en-US"/>
        </a:p>
      </dgm:t>
    </dgm:pt>
    <dgm:pt modelId="{94FCC04F-88CA-49E6-B1E1-8D3E3990D756}" type="sibTrans" cxnId="{6C56162C-2F08-4CB6-9F8E-FBB12927A8A3}">
      <dgm:prSet/>
      <dgm:spPr/>
      <dgm:t>
        <a:bodyPr/>
        <a:lstStyle/>
        <a:p>
          <a:endParaRPr lang="en-US"/>
        </a:p>
      </dgm:t>
    </dgm:pt>
    <dgm:pt modelId="{85DA28BF-DEA0-4D01-842F-03DEA1B69F72}">
      <dgm:prSet phldrT="[Text]"/>
      <dgm:spPr/>
      <dgm:t>
        <a:bodyPr/>
        <a:lstStyle/>
        <a:p>
          <a:pPr algn="ctr"/>
          <a:r>
            <a:rPr lang="en-US" b="1" dirty="0" smtClean="0">
              <a:solidFill>
                <a:srgbClr val="FFFF00"/>
              </a:solidFill>
            </a:rPr>
            <a:t>Step 3: foundation preparation</a:t>
          </a:r>
        </a:p>
        <a:p>
          <a:pPr algn="ctr"/>
          <a:endParaRPr lang="en-US" b="1" dirty="0" smtClean="0"/>
        </a:p>
        <a:p>
          <a:pPr algn="l"/>
          <a:r>
            <a:rPr lang="en-US" dirty="0" smtClean="0"/>
            <a:t>1. Soil excavation</a:t>
          </a:r>
        </a:p>
        <a:p>
          <a:pPr algn="l"/>
          <a:r>
            <a:rPr lang="en-US" dirty="0" smtClean="0"/>
            <a:t>2. Compressed plastic blocks placed in foundation.</a:t>
          </a:r>
        </a:p>
        <a:p>
          <a:pPr algn="l"/>
          <a:r>
            <a:rPr lang="en-US" dirty="0" smtClean="0"/>
            <a:t>3. layer-by-layer compaction with soil.</a:t>
          </a:r>
        </a:p>
        <a:p>
          <a:pPr algn="l"/>
          <a:r>
            <a:rPr lang="en-US" dirty="0" smtClean="0"/>
            <a:t>4. Using a vibratory compactor.</a:t>
          </a:r>
        </a:p>
      </dgm:t>
    </dgm:pt>
    <dgm:pt modelId="{13F3C04E-60BE-475F-95C0-933358B00703}" type="parTrans" cxnId="{BD8613D4-350E-4B47-AF91-3BD6C8776589}">
      <dgm:prSet/>
      <dgm:spPr/>
      <dgm:t>
        <a:bodyPr/>
        <a:lstStyle/>
        <a:p>
          <a:endParaRPr lang="en-US"/>
        </a:p>
      </dgm:t>
    </dgm:pt>
    <dgm:pt modelId="{DA96F668-768F-4FF1-ADDB-5FF96DF7F6E4}" type="sibTrans" cxnId="{BD8613D4-350E-4B47-AF91-3BD6C8776589}">
      <dgm:prSet/>
      <dgm:spPr/>
      <dgm:t>
        <a:bodyPr/>
        <a:lstStyle/>
        <a:p>
          <a:endParaRPr lang="en-US"/>
        </a:p>
      </dgm:t>
    </dgm:pt>
    <dgm:pt modelId="{AAFE20A5-B577-465E-A06B-38609274F12B}">
      <dgm:prSet phldrT="[Text]"/>
      <dgm:spPr/>
      <dgm:t>
        <a:bodyPr/>
        <a:lstStyle/>
        <a:p>
          <a:r>
            <a:rPr lang="en-US" b="1" dirty="0" smtClean="0">
              <a:solidFill>
                <a:srgbClr val="FFFF00"/>
              </a:solidFill>
            </a:rPr>
            <a:t>Step 4: construction</a:t>
          </a:r>
        </a:p>
        <a:p>
          <a:endParaRPr lang="en-US" b="1" dirty="0" smtClean="0"/>
        </a:p>
        <a:p>
          <a:r>
            <a:rPr lang="en-US" dirty="0" smtClean="0"/>
            <a:t>Plastic remains safely sealed underground.</a:t>
          </a:r>
          <a:endParaRPr lang="en-US" dirty="0"/>
        </a:p>
      </dgm:t>
    </dgm:pt>
    <dgm:pt modelId="{9D7945C9-DDB4-4C65-B256-19929EE65B1E}" type="parTrans" cxnId="{9223281F-203B-45E1-AB23-E8623F7F4023}">
      <dgm:prSet/>
      <dgm:spPr/>
      <dgm:t>
        <a:bodyPr/>
        <a:lstStyle/>
        <a:p>
          <a:endParaRPr lang="en-US"/>
        </a:p>
      </dgm:t>
    </dgm:pt>
    <dgm:pt modelId="{9475BAB0-0205-43F0-82EE-3199D1CDD25E}" type="sibTrans" cxnId="{9223281F-203B-45E1-AB23-E8623F7F4023}">
      <dgm:prSet/>
      <dgm:spPr/>
      <dgm:t>
        <a:bodyPr/>
        <a:lstStyle/>
        <a:p>
          <a:endParaRPr lang="en-US"/>
        </a:p>
      </dgm:t>
    </dgm:pt>
    <dgm:pt modelId="{F0F6D884-0E3F-4F91-AAA6-B7D9555B5C88}" type="pres">
      <dgm:prSet presAssocID="{8F82CA11-0E99-433C-A965-44DA7D91DC2F}" presName="cycle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D62264EE-A01C-4F1D-80AE-F7310DED2254}" type="pres">
      <dgm:prSet presAssocID="{E3B39D19-C821-4CA3-BD0C-BDA5C455E130}" presName="node" presStyleLbl="node1" presStyleIdx="0" presStyleCnt="4" custScaleX="203062" custScaleY="136375" custRadScaleRad="85959" custRadScaleInc="-29860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3746C79-7425-476F-AD9E-A2A09EE29B32}" type="pres">
      <dgm:prSet presAssocID="{E3B39D19-C821-4CA3-BD0C-BDA5C455E130}" presName="spNode" presStyleCnt="0"/>
      <dgm:spPr/>
    </dgm:pt>
    <dgm:pt modelId="{3C54B2A5-8CB2-41A6-9E81-46EC41E22864}" type="pres">
      <dgm:prSet presAssocID="{9EFD6C50-9880-48EF-95CB-FDA7D8154BD8}" presName="sibTrans" presStyleLbl="sibTrans1D1" presStyleIdx="0" presStyleCnt="4"/>
      <dgm:spPr/>
      <dgm:t>
        <a:bodyPr/>
        <a:lstStyle/>
        <a:p>
          <a:endParaRPr lang="en-US"/>
        </a:p>
      </dgm:t>
    </dgm:pt>
    <dgm:pt modelId="{54FDAE87-76D1-4BC8-ADA9-FDA250C0ADBF}" type="pres">
      <dgm:prSet presAssocID="{8CEB9829-1FB0-431F-856E-A99878D15537}" presName="node" presStyleLbl="node1" presStyleIdx="1" presStyleCnt="4" custScaleX="201376" custScaleY="113182" custRadScaleRad="133794" custRadScaleInc="649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A7D499C-CF52-4C82-84CB-52513CE46986}" type="pres">
      <dgm:prSet presAssocID="{8CEB9829-1FB0-431F-856E-A99878D15537}" presName="spNode" presStyleCnt="0"/>
      <dgm:spPr/>
    </dgm:pt>
    <dgm:pt modelId="{DD9CC397-4109-4843-87B3-2818572CC53A}" type="pres">
      <dgm:prSet presAssocID="{94FCC04F-88CA-49E6-B1E1-8D3E3990D756}" presName="sibTrans" presStyleLbl="sibTrans1D1" presStyleIdx="1" presStyleCnt="4"/>
      <dgm:spPr/>
      <dgm:t>
        <a:bodyPr/>
        <a:lstStyle/>
        <a:p>
          <a:endParaRPr lang="en-US"/>
        </a:p>
      </dgm:t>
    </dgm:pt>
    <dgm:pt modelId="{56502CB5-EBCD-4D60-8267-B6973CB88E70}" type="pres">
      <dgm:prSet presAssocID="{85DA28BF-DEA0-4D01-842F-03DEA1B69F72}" presName="node" presStyleLbl="node1" presStyleIdx="2" presStyleCnt="4" custScaleX="201885" custScaleY="133511" custRadScaleRad="89382" custRadScaleInc="3498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69B3DE1-9364-49D3-94B7-05D28136B99E}" type="pres">
      <dgm:prSet presAssocID="{85DA28BF-DEA0-4D01-842F-03DEA1B69F72}" presName="spNode" presStyleCnt="0"/>
      <dgm:spPr/>
    </dgm:pt>
    <dgm:pt modelId="{0D645973-C2C3-4170-BFE8-D03B9040BCE2}" type="pres">
      <dgm:prSet presAssocID="{DA96F668-768F-4FF1-ADDB-5FF96DF7F6E4}" presName="sibTrans" presStyleLbl="sibTrans1D1" presStyleIdx="2" presStyleCnt="4"/>
      <dgm:spPr/>
      <dgm:t>
        <a:bodyPr/>
        <a:lstStyle/>
        <a:p>
          <a:endParaRPr lang="en-US"/>
        </a:p>
      </dgm:t>
    </dgm:pt>
    <dgm:pt modelId="{DF58DE49-A76D-47DA-97C3-E1DED6A6D450}" type="pres">
      <dgm:prSet presAssocID="{AAFE20A5-B577-465E-A06B-38609274F12B}" presName="node" presStyleLbl="node1" presStyleIdx="3" presStyleCnt="4" custScaleX="213453" custScaleY="116088" custRadScaleRad="163342" custRadScaleInc="-421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BACA4E1-851A-4EF6-8196-F57D01C39906}" type="pres">
      <dgm:prSet presAssocID="{AAFE20A5-B577-465E-A06B-38609274F12B}" presName="spNode" presStyleCnt="0"/>
      <dgm:spPr/>
    </dgm:pt>
    <dgm:pt modelId="{C4689902-93DA-40B9-AFE0-BA61A8D3A121}" type="pres">
      <dgm:prSet presAssocID="{9475BAB0-0205-43F0-82EE-3199D1CDD25E}" presName="sibTrans" presStyleLbl="sibTrans1D1" presStyleIdx="3" presStyleCnt="4"/>
      <dgm:spPr/>
      <dgm:t>
        <a:bodyPr/>
        <a:lstStyle/>
        <a:p>
          <a:endParaRPr lang="en-US"/>
        </a:p>
      </dgm:t>
    </dgm:pt>
  </dgm:ptLst>
  <dgm:cxnLst>
    <dgm:cxn modelId="{461BF4D9-A623-41E6-9134-39BF4B59F12C}" type="presOf" srcId="{9EFD6C50-9880-48EF-95CB-FDA7D8154BD8}" destId="{3C54B2A5-8CB2-41A6-9E81-46EC41E22864}" srcOrd="0" destOrd="0" presId="urn:microsoft.com/office/officeart/2005/8/layout/cycle6"/>
    <dgm:cxn modelId="{9F779BD6-741B-4734-AE2E-082F620D7703}" type="presOf" srcId="{85DA28BF-DEA0-4D01-842F-03DEA1B69F72}" destId="{56502CB5-EBCD-4D60-8267-B6973CB88E70}" srcOrd="0" destOrd="0" presId="urn:microsoft.com/office/officeart/2005/8/layout/cycle6"/>
    <dgm:cxn modelId="{BD8613D4-350E-4B47-AF91-3BD6C8776589}" srcId="{8F82CA11-0E99-433C-A965-44DA7D91DC2F}" destId="{85DA28BF-DEA0-4D01-842F-03DEA1B69F72}" srcOrd="2" destOrd="0" parTransId="{13F3C04E-60BE-475F-95C0-933358B00703}" sibTransId="{DA96F668-768F-4FF1-ADDB-5FF96DF7F6E4}"/>
    <dgm:cxn modelId="{99C70BD1-D24F-4160-8E34-B25E353D79BF}" type="presOf" srcId="{AAFE20A5-B577-465E-A06B-38609274F12B}" destId="{DF58DE49-A76D-47DA-97C3-E1DED6A6D450}" srcOrd="0" destOrd="0" presId="urn:microsoft.com/office/officeart/2005/8/layout/cycle6"/>
    <dgm:cxn modelId="{20C5F6F1-51FE-4C45-BF52-0B3970FEB852}" type="presOf" srcId="{9475BAB0-0205-43F0-82EE-3199D1CDD25E}" destId="{C4689902-93DA-40B9-AFE0-BA61A8D3A121}" srcOrd="0" destOrd="0" presId="urn:microsoft.com/office/officeart/2005/8/layout/cycle6"/>
    <dgm:cxn modelId="{4C3E9FBA-6BF6-44CB-A8BA-1E6297A9E298}" type="presOf" srcId="{8F82CA11-0E99-433C-A965-44DA7D91DC2F}" destId="{F0F6D884-0E3F-4F91-AAA6-B7D9555B5C88}" srcOrd="0" destOrd="0" presId="urn:microsoft.com/office/officeart/2005/8/layout/cycle6"/>
    <dgm:cxn modelId="{8D28B2E7-6219-4524-AE3D-AD1822D5E2AE}" type="presOf" srcId="{94FCC04F-88CA-49E6-B1E1-8D3E3990D756}" destId="{DD9CC397-4109-4843-87B3-2818572CC53A}" srcOrd="0" destOrd="0" presId="urn:microsoft.com/office/officeart/2005/8/layout/cycle6"/>
    <dgm:cxn modelId="{E89A0119-547E-46BC-AC9A-65051099884E}" srcId="{8F82CA11-0E99-433C-A965-44DA7D91DC2F}" destId="{E3B39D19-C821-4CA3-BD0C-BDA5C455E130}" srcOrd="0" destOrd="0" parTransId="{727F7539-8490-4AE7-8171-282AC368ABE4}" sibTransId="{9EFD6C50-9880-48EF-95CB-FDA7D8154BD8}"/>
    <dgm:cxn modelId="{C72BEDA6-70D0-4FB5-9032-9C69465B1860}" type="presOf" srcId="{DA96F668-768F-4FF1-ADDB-5FF96DF7F6E4}" destId="{0D645973-C2C3-4170-BFE8-D03B9040BCE2}" srcOrd="0" destOrd="0" presId="urn:microsoft.com/office/officeart/2005/8/layout/cycle6"/>
    <dgm:cxn modelId="{D1A11EB5-A4A2-4453-9F12-5C32001094F5}" type="presOf" srcId="{8CEB9829-1FB0-431F-856E-A99878D15537}" destId="{54FDAE87-76D1-4BC8-ADA9-FDA250C0ADBF}" srcOrd="0" destOrd="0" presId="urn:microsoft.com/office/officeart/2005/8/layout/cycle6"/>
    <dgm:cxn modelId="{6C56162C-2F08-4CB6-9F8E-FBB12927A8A3}" srcId="{8F82CA11-0E99-433C-A965-44DA7D91DC2F}" destId="{8CEB9829-1FB0-431F-856E-A99878D15537}" srcOrd="1" destOrd="0" parTransId="{B037562C-71D5-4A6E-8241-7F82254D03C0}" sibTransId="{94FCC04F-88CA-49E6-B1E1-8D3E3990D756}"/>
    <dgm:cxn modelId="{9223281F-203B-45E1-AB23-E8623F7F4023}" srcId="{8F82CA11-0E99-433C-A965-44DA7D91DC2F}" destId="{AAFE20A5-B577-465E-A06B-38609274F12B}" srcOrd="3" destOrd="0" parTransId="{9D7945C9-DDB4-4C65-B256-19929EE65B1E}" sibTransId="{9475BAB0-0205-43F0-82EE-3199D1CDD25E}"/>
    <dgm:cxn modelId="{7F219B75-D69A-4B4B-B575-0DAA69B91C77}" type="presOf" srcId="{E3B39D19-C821-4CA3-BD0C-BDA5C455E130}" destId="{D62264EE-A01C-4F1D-80AE-F7310DED2254}" srcOrd="0" destOrd="0" presId="urn:microsoft.com/office/officeart/2005/8/layout/cycle6"/>
    <dgm:cxn modelId="{080EE8DD-4847-437C-91AA-ABC5D0F17C69}" type="presParOf" srcId="{F0F6D884-0E3F-4F91-AAA6-B7D9555B5C88}" destId="{D62264EE-A01C-4F1D-80AE-F7310DED2254}" srcOrd="0" destOrd="0" presId="urn:microsoft.com/office/officeart/2005/8/layout/cycle6"/>
    <dgm:cxn modelId="{DC6299B3-1151-4BDA-A5DF-9C7AA06AB848}" type="presParOf" srcId="{F0F6D884-0E3F-4F91-AAA6-B7D9555B5C88}" destId="{43746C79-7425-476F-AD9E-A2A09EE29B32}" srcOrd="1" destOrd="0" presId="urn:microsoft.com/office/officeart/2005/8/layout/cycle6"/>
    <dgm:cxn modelId="{DAA03A82-8F78-4E28-BDB6-8C65CF713FCC}" type="presParOf" srcId="{F0F6D884-0E3F-4F91-AAA6-B7D9555B5C88}" destId="{3C54B2A5-8CB2-41A6-9E81-46EC41E22864}" srcOrd="2" destOrd="0" presId="urn:microsoft.com/office/officeart/2005/8/layout/cycle6"/>
    <dgm:cxn modelId="{2B10C6DE-2C27-44A1-B41F-C5EB38E12275}" type="presParOf" srcId="{F0F6D884-0E3F-4F91-AAA6-B7D9555B5C88}" destId="{54FDAE87-76D1-4BC8-ADA9-FDA250C0ADBF}" srcOrd="3" destOrd="0" presId="urn:microsoft.com/office/officeart/2005/8/layout/cycle6"/>
    <dgm:cxn modelId="{E0120320-7D64-46C8-8FB5-460745D27BFA}" type="presParOf" srcId="{F0F6D884-0E3F-4F91-AAA6-B7D9555B5C88}" destId="{8A7D499C-CF52-4C82-84CB-52513CE46986}" srcOrd="4" destOrd="0" presId="urn:microsoft.com/office/officeart/2005/8/layout/cycle6"/>
    <dgm:cxn modelId="{709D000F-17FD-4784-B760-2194EE4422F9}" type="presParOf" srcId="{F0F6D884-0E3F-4F91-AAA6-B7D9555B5C88}" destId="{DD9CC397-4109-4843-87B3-2818572CC53A}" srcOrd="5" destOrd="0" presId="urn:microsoft.com/office/officeart/2005/8/layout/cycle6"/>
    <dgm:cxn modelId="{EC5B3913-EF96-4AEC-A7F5-D5568227B801}" type="presParOf" srcId="{F0F6D884-0E3F-4F91-AAA6-B7D9555B5C88}" destId="{56502CB5-EBCD-4D60-8267-B6973CB88E70}" srcOrd="6" destOrd="0" presId="urn:microsoft.com/office/officeart/2005/8/layout/cycle6"/>
    <dgm:cxn modelId="{9396A5FF-0FB0-4D33-913E-B667A1519E53}" type="presParOf" srcId="{F0F6D884-0E3F-4F91-AAA6-B7D9555B5C88}" destId="{669B3DE1-9364-49D3-94B7-05D28136B99E}" srcOrd="7" destOrd="0" presId="urn:microsoft.com/office/officeart/2005/8/layout/cycle6"/>
    <dgm:cxn modelId="{DAFE9B7D-CB03-4E80-9DB1-EF382E63320D}" type="presParOf" srcId="{F0F6D884-0E3F-4F91-AAA6-B7D9555B5C88}" destId="{0D645973-C2C3-4170-BFE8-D03B9040BCE2}" srcOrd="8" destOrd="0" presId="urn:microsoft.com/office/officeart/2005/8/layout/cycle6"/>
    <dgm:cxn modelId="{5DC8B06F-EE49-477B-87B4-3172BD08AD17}" type="presParOf" srcId="{F0F6D884-0E3F-4F91-AAA6-B7D9555B5C88}" destId="{DF58DE49-A76D-47DA-97C3-E1DED6A6D450}" srcOrd="9" destOrd="0" presId="urn:microsoft.com/office/officeart/2005/8/layout/cycle6"/>
    <dgm:cxn modelId="{1ABBE47C-B9E0-48D6-95C6-960581142347}" type="presParOf" srcId="{F0F6D884-0E3F-4F91-AAA6-B7D9555B5C88}" destId="{EBACA4E1-851A-4EF6-8196-F57D01C39906}" srcOrd="10" destOrd="0" presId="urn:microsoft.com/office/officeart/2005/8/layout/cycle6"/>
    <dgm:cxn modelId="{61BB08A2-ECFD-4382-A5C3-3B07DC4FDC6A}" type="presParOf" srcId="{F0F6D884-0E3F-4F91-AAA6-B7D9555B5C88}" destId="{C4689902-93DA-40B9-AFE0-BA61A8D3A121}" srcOrd="11" destOrd="0" presId="urn:microsoft.com/office/officeart/2005/8/layout/cycle6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0C1B2C7-0B23-4FE8-AB0F-5877B88532DB}">
      <dsp:nvSpPr>
        <dsp:cNvPr id="0" name=""/>
        <dsp:cNvSpPr/>
      </dsp:nvSpPr>
      <dsp:spPr>
        <a:xfrm>
          <a:off x="55" y="73935"/>
          <a:ext cx="5287072" cy="7776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2024" tIns="109728" rIns="192024" bIns="109728" numCol="1" spcCol="1270" anchor="ctr" anchorCtr="0">
          <a:noAutofit/>
        </a:bodyPr>
        <a:lstStyle/>
        <a:p>
          <a:pPr lvl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700" b="1" kern="1200" dirty="0" smtClean="0"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Non-</a:t>
          </a:r>
          <a:r>
            <a:rPr lang="en-US" sz="2700" b="1" kern="1200" dirty="0" err="1" smtClean="0"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resuable</a:t>
          </a:r>
          <a:r>
            <a:rPr lang="en-US" sz="2700" b="1" kern="1200" dirty="0" smtClean="0"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 plastic</a:t>
          </a:r>
          <a:endParaRPr lang="en-US" sz="2700" b="1" kern="1200" dirty="0">
            <a:solidFill>
              <a:schemeClr val="tx1"/>
            </a:solidFill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sp:txBody>
      <dsp:txXfrm>
        <a:off x="55" y="73935"/>
        <a:ext cx="5287072" cy="777600"/>
      </dsp:txXfrm>
    </dsp:sp>
    <dsp:sp modelId="{17CA1487-CDD9-4364-92F6-A11DBDAFE16C}">
      <dsp:nvSpPr>
        <dsp:cNvPr id="0" name=""/>
        <dsp:cNvSpPr/>
      </dsp:nvSpPr>
      <dsp:spPr>
        <a:xfrm>
          <a:off x="55" y="851535"/>
          <a:ext cx="5287072" cy="3566784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4018" tIns="144018" rIns="192024" bIns="216027" numCol="1" spcCol="1270" anchor="t" anchorCtr="0">
          <a:noAutofit/>
        </a:bodyPr>
        <a:lstStyle/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••"/>
          </a:pPr>
          <a:r>
            <a:rPr lang="en-US" sz="2700" kern="1200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Cannot be destroyed</a:t>
          </a:r>
          <a:endParaRPr lang="en-US" sz="2700" kern="1200" dirty="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••"/>
          </a:pPr>
          <a:r>
            <a:rPr lang="en-US" sz="2700" kern="1200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Cannot be melted (thermoset plastics)</a:t>
          </a:r>
          <a:endParaRPr lang="en-US" sz="2700" kern="1200" dirty="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••"/>
          </a:pPr>
          <a:r>
            <a:rPr lang="en-US" sz="2700" kern="1200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Cannot be recycled</a:t>
          </a:r>
          <a:endParaRPr lang="en-US" sz="2700" kern="1200" dirty="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••"/>
          </a:pPr>
          <a:r>
            <a:rPr lang="en-US" sz="2700" kern="1200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Fill up landfills</a:t>
          </a:r>
          <a:endParaRPr lang="en-US" sz="2700" kern="1200" dirty="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••"/>
          </a:pPr>
          <a:r>
            <a:rPr lang="en-US" sz="2700" kern="1200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Release toxic fumes when burned.</a:t>
          </a:r>
          <a:endParaRPr lang="en-US" sz="2700" kern="1200" dirty="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sp:txBody>
      <dsp:txXfrm>
        <a:off x="55" y="851535"/>
        <a:ext cx="5287072" cy="3566784"/>
      </dsp:txXfrm>
    </dsp:sp>
    <dsp:sp modelId="{055A5EAB-EAE0-4501-8649-31F112FF9AD5}">
      <dsp:nvSpPr>
        <dsp:cNvPr id="0" name=""/>
        <dsp:cNvSpPr/>
      </dsp:nvSpPr>
      <dsp:spPr>
        <a:xfrm>
          <a:off x="6027318" y="73935"/>
          <a:ext cx="5287072" cy="7776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2024" tIns="109728" rIns="192024" bIns="109728" numCol="1" spcCol="1270" anchor="ctr" anchorCtr="0">
          <a:noAutofit/>
        </a:bodyPr>
        <a:lstStyle/>
        <a:p>
          <a:pPr lvl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700" b="1" kern="1200" dirty="0" smtClean="0"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My Idea</a:t>
          </a:r>
          <a:endParaRPr lang="en-US" sz="2700" b="1" kern="1200" dirty="0">
            <a:solidFill>
              <a:schemeClr val="tx1"/>
            </a:solidFill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sp:txBody>
      <dsp:txXfrm>
        <a:off x="6027318" y="73935"/>
        <a:ext cx="5287072" cy="777600"/>
      </dsp:txXfrm>
    </dsp:sp>
    <dsp:sp modelId="{E4FD5043-5612-43C5-B6AE-CCD431549399}">
      <dsp:nvSpPr>
        <dsp:cNvPr id="0" name=""/>
        <dsp:cNvSpPr/>
      </dsp:nvSpPr>
      <dsp:spPr>
        <a:xfrm>
          <a:off x="6027318" y="851535"/>
          <a:ext cx="5287072" cy="3566784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4018" tIns="144018" rIns="192024" bIns="216027" numCol="1" spcCol="1270" anchor="t" anchorCtr="0">
          <a:noAutofit/>
        </a:bodyPr>
        <a:lstStyle/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••"/>
          </a:pPr>
          <a:r>
            <a:rPr lang="en-US" sz="2700" kern="1200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Converts plastic into compressed blocks.</a:t>
          </a:r>
          <a:endParaRPr lang="en-US" sz="2700" kern="1200" dirty="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••"/>
          </a:pPr>
          <a:r>
            <a:rPr lang="en-US" sz="2700" kern="1200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Places them in the house foundation.</a:t>
          </a:r>
          <a:endParaRPr lang="en-US" sz="2700" kern="1200" dirty="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••"/>
          </a:pPr>
          <a:r>
            <a:rPr lang="en-US" sz="2700" kern="1200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Compact with soil for zero voids</a:t>
          </a:r>
          <a:endParaRPr lang="en-US" sz="2700" kern="1200" dirty="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••"/>
          </a:pPr>
          <a:r>
            <a:rPr lang="en-US" sz="2700" kern="1200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Permanently seal plastic underground.</a:t>
          </a:r>
          <a:endParaRPr lang="en-US" sz="2700" kern="1200" dirty="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sp:txBody>
      <dsp:txXfrm>
        <a:off x="6027318" y="851535"/>
        <a:ext cx="5287072" cy="356678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62264EE-A01C-4F1D-80AE-F7310DED2254}">
      <dsp:nvSpPr>
        <dsp:cNvPr id="0" name=""/>
        <dsp:cNvSpPr/>
      </dsp:nvSpPr>
      <dsp:spPr>
        <a:xfrm>
          <a:off x="2896666" y="105222"/>
          <a:ext cx="4268613" cy="186340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b="1" kern="1200" dirty="0" smtClean="0">
              <a:solidFill>
                <a:srgbClr val="FFFF00"/>
              </a:solidFill>
            </a:rPr>
            <a:t>Step 1: Collect non </a:t>
          </a:r>
          <a:r>
            <a:rPr lang="en-US" sz="1600" b="1" kern="1200" dirty="0" err="1" smtClean="0">
              <a:solidFill>
                <a:srgbClr val="FFFF00"/>
              </a:solidFill>
            </a:rPr>
            <a:t>resuable</a:t>
          </a:r>
          <a:r>
            <a:rPr lang="en-US" sz="1600" b="1" kern="1200" dirty="0" smtClean="0">
              <a:solidFill>
                <a:srgbClr val="FFFF00"/>
              </a:solidFill>
            </a:rPr>
            <a:t> plastics</a:t>
          </a:r>
        </a:p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600" b="1" kern="1200" dirty="0" smtClean="0"/>
        </a:p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 smtClean="0"/>
            <a:t>1. Thermoset plastic</a:t>
          </a:r>
        </a:p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 smtClean="0"/>
            <a:t>2. Hard plastic</a:t>
          </a:r>
        </a:p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 smtClean="0"/>
            <a:t>3. </a:t>
          </a:r>
          <a:r>
            <a:rPr lang="en-US" sz="1600" kern="1200" dirty="0" err="1" smtClean="0"/>
            <a:t>Vechicle</a:t>
          </a:r>
          <a:r>
            <a:rPr lang="en-US" sz="1600" kern="1200" dirty="0" smtClean="0"/>
            <a:t> fiber plastic</a:t>
          </a:r>
        </a:p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 smtClean="0"/>
            <a:t>4. Injection molding waste </a:t>
          </a:r>
        </a:p>
      </dsp:txBody>
      <dsp:txXfrm>
        <a:off x="2987630" y="196186"/>
        <a:ext cx="4086685" cy="1681473"/>
      </dsp:txXfrm>
    </dsp:sp>
    <dsp:sp modelId="{3C54B2A5-8CB2-41A6-9E81-46EC41E22864}">
      <dsp:nvSpPr>
        <dsp:cNvPr id="0" name=""/>
        <dsp:cNvSpPr/>
      </dsp:nvSpPr>
      <dsp:spPr>
        <a:xfrm>
          <a:off x="3402857" y="1779500"/>
          <a:ext cx="4511942" cy="4511942"/>
        </a:xfrm>
        <a:custGeom>
          <a:avLst/>
          <a:gdLst/>
          <a:ahLst/>
          <a:cxnLst/>
          <a:rect l="0" t="0" r="0" b="0"/>
          <a:pathLst>
            <a:path>
              <a:moveTo>
                <a:pt x="3165671" y="191546"/>
              </a:moveTo>
              <a:arcTo wR="2255971" hR="2255971" stAng="17626858" swAng="902965"/>
            </a:path>
          </a:pathLst>
        </a:custGeom>
        <a:noFill/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4FDAE87-76D1-4BC8-ADA9-FDA250C0ADBF}">
      <dsp:nvSpPr>
        <dsp:cNvPr id="0" name=""/>
        <dsp:cNvSpPr/>
      </dsp:nvSpPr>
      <dsp:spPr>
        <a:xfrm>
          <a:off x="6232951" y="2281843"/>
          <a:ext cx="4233172" cy="154649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b="1" kern="1200" dirty="0" smtClean="0"/>
            <a:t>	</a:t>
          </a:r>
          <a:r>
            <a:rPr lang="en-US" sz="1600" b="1" kern="1200" dirty="0" smtClean="0">
              <a:solidFill>
                <a:srgbClr val="FFFF00"/>
              </a:solidFill>
            </a:rPr>
            <a:t>Step 2: compression</a:t>
          </a:r>
        </a:p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600" b="1" kern="1200" dirty="0" smtClean="0"/>
        </a:p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 smtClean="0"/>
            <a:t>1. Plastic is compressed using a hydraulic press.</a:t>
          </a:r>
        </a:p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 smtClean="0"/>
            <a:t>2. Compression ratio: 1:5</a:t>
          </a:r>
        </a:p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 smtClean="0"/>
            <a:t>3. Block density: 400-600 </a:t>
          </a:r>
          <a:r>
            <a:rPr lang="en-US" sz="1600" kern="1200" dirty="0" smtClean="0"/>
            <a:t>kg/</a:t>
          </a:r>
          <a:r>
            <a:rPr lang="en-US" sz="1600" kern="1200" dirty="0" smtClean="0"/>
            <a:t>m</a:t>
          </a:r>
          <a:r>
            <a:rPr lang="en-US" sz="1600" kern="1200" baseline="30000" dirty="0" smtClean="0"/>
            <a:t>3</a:t>
          </a:r>
          <a:r>
            <a:rPr lang="en-US" sz="1600" kern="1200" dirty="0" smtClean="0"/>
            <a:t>    </a:t>
          </a:r>
          <a:endParaRPr lang="en-US" sz="1600" kern="1200" dirty="0"/>
        </a:p>
      </dsp:txBody>
      <dsp:txXfrm>
        <a:off x="6308445" y="2357337"/>
        <a:ext cx="4082184" cy="1395508"/>
      </dsp:txXfrm>
    </dsp:sp>
    <dsp:sp modelId="{DD9CC397-4109-4843-87B3-2818572CC53A}">
      <dsp:nvSpPr>
        <dsp:cNvPr id="0" name=""/>
        <dsp:cNvSpPr/>
      </dsp:nvSpPr>
      <dsp:spPr>
        <a:xfrm>
          <a:off x="3435275" y="-294522"/>
          <a:ext cx="4511942" cy="4511942"/>
        </a:xfrm>
        <a:custGeom>
          <a:avLst/>
          <a:gdLst/>
          <a:ahLst/>
          <a:cxnLst/>
          <a:rect l="0" t="0" r="0" b="0"/>
          <a:pathLst>
            <a:path>
              <a:moveTo>
                <a:pt x="3519191" y="4125109"/>
              </a:moveTo>
              <a:arcTo wR="2255971" hR="2255971" stAng="3356880" swAng="599488"/>
            </a:path>
          </a:pathLst>
        </a:custGeom>
        <a:noFill/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6502CB5-EBCD-4D60-8267-B6973CB88E70}">
      <dsp:nvSpPr>
        <dsp:cNvPr id="0" name=""/>
        <dsp:cNvSpPr/>
      </dsp:nvSpPr>
      <dsp:spPr>
        <a:xfrm>
          <a:off x="2843682" y="4023041"/>
          <a:ext cx="4243871" cy="182426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500" b="1" kern="1200" dirty="0" smtClean="0">
              <a:solidFill>
                <a:srgbClr val="FFFF00"/>
              </a:solidFill>
            </a:rPr>
            <a:t>Step 3: foundation preparation</a:t>
          </a:r>
        </a:p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500" b="1" kern="1200" dirty="0" smtClean="0"/>
        </a:p>
        <a:p>
          <a:pPr lvl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500" kern="1200" dirty="0" smtClean="0"/>
            <a:t>1. Soil excavation</a:t>
          </a:r>
        </a:p>
        <a:p>
          <a:pPr lvl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500" kern="1200" dirty="0" smtClean="0"/>
            <a:t>2. Compressed plastic blocks placed in foundation.</a:t>
          </a:r>
        </a:p>
        <a:p>
          <a:pPr lvl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500" kern="1200" dirty="0" smtClean="0"/>
            <a:t>3. layer-by-layer compaction with soil.</a:t>
          </a:r>
        </a:p>
        <a:p>
          <a:pPr lvl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500" kern="1200" dirty="0" smtClean="0"/>
            <a:t>4. Using a vibratory compactor.</a:t>
          </a:r>
        </a:p>
      </dsp:txBody>
      <dsp:txXfrm>
        <a:off x="2932735" y="4112094"/>
        <a:ext cx="4065765" cy="1646161"/>
      </dsp:txXfrm>
    </dsp:sp>
    <dsp:sp modelId="{0D645973-C2C3-4170-BFE8-D03B9040BCE2}">
      <dsp:nvSpPr>
        <dsp:cNvPr id="0" name=""/>
        <dsp:cNvSpPr/>
      </dsp:nvSpPr>
      <dsp:spPr>
        <a:xfrm>
          <a:off x="2551532" y="-175136"/>
          <a:ext cx="4511942" cy="4511942"/>
        </a:xfrm>
        <a:custGeom>
          <a:avLst/>
          <a:gdLst/>
          <a:ahLst/>
          <a:cxnLst/>
          <a:rect l="0" t="0" r="0" b="0"/>
          <a:pathLst>
            <a:path>
              <a:moveTo>
                <a:pt x="1105312" y="4196432"/>
              </a:moveTo>
              <a:arcTo wR="2255971" hR="2255971" stAng="7240030" swAng="512109"/>
            </a:path>
          </a:pathLst>
        </a:custGeom>
        <a:noFill/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F58DE49-A76D-47DA-97C3-E1DED6A6D450}">
      <dsp:nvSpPr>
        <dsp:cNvPr id="0" name=""/>
        <dsp:cNvSpPr/>
      </dsp:nvSpPr>
      <dsp:spPr>
        <a:xfrm>
          <a:off x="0" y="2240658"/>
          <a:ext cx="4487045" cy="158620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500" b="1" kern="1200" dirty="0" smtClean="0">
              <a:solidFill>
                <a:srgbClr val="FFFF00"/>
              </a:solidFill>
            </a:rPr>
            <a:t>Step 4: construction</a:t>
          </a:r>
        </a:p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500" b="1" kern="1200" dirty="0" smtClean="0"/>
        </a:p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500" kern="1200" dirty="0" smtClean="0"/>
            <a:t>Plastic remains safely sealed underground.</a:t>
          </a:r>
          <a:endParaRPr lang="en-US" sz="1500" kern="1200" dirty="0"/>
        </a:p>
      </dsp:txBody>
      <dsp:txXfrm>
        <a:off x="77432" y="2318090"/>
        <a:ext cx="4332181" cy="1431339"/>
      </dsp:txXfrm>
    </dsp:sp>
    <dsp:sp modelId="{C4689902-93DA-40B9-AFE0-BA61A8D3A121}">
      <dsp:nvSpPr>
        <dsp:cNvPr id="0" name=""/>
        <dsp:cNvSpPr/>
      </dsp:nvSpPr>
      <dsp:spPr>
        <a:xfrm>
          <a:off x="2591262" y="1672766"/>
          <a:ext cx="4511942" cy="4511942"/>
        </a:xfrm>
        <a:custGeom>
          <a:avLst/>
          <a:gdLst/>
          <a:ahLst/>
          <a:cxnLst/>
          <a:rect l="0" t="0" r="0" b="0"/>
          <a:pathLst>
            <a:path>
              <a:moveTo>
                <a:pt x="762875" y="564796"/>
              </a:moveTo>
              <a:arcTo wR="2255971" hR="2255971" stAng="13713571" swAng="698870"/>
            </a:path>
          </a:pathLst>
        </a:custGeom>
        <a:noFill/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ycle6">
  <dgm:title val=""/>
  <dgm:desc val=""/>
  <dgm:catLst>
    <dgm:cat type="cycle" pri="4000"/>
    <dgm:cat type="relationship" pri="2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9">
      <dgm:if name="Name10" func="var" arg="dir" op="equ" val="norm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op="equ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if>
      <dgm:else name="Name11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op="equ" fact="-1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else>
    </dgm:choose>
    <dgm:ruleLst/>
    <dgm:forEach name="Name12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/>
        </dgm:shape>
        <dgm:presOf axis="desOrSelf" ptType="node"/>
        <dgm:constrLst>
          <dgm:constr type="h" refType="w" fact="0.65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choose name="Name13">
        <dgm:if name="Name14" axis="par ch" ptType="doc node" func="cnt" op="gt" val="1">
          <dgm:layoutNode name="spNode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  <dgm:forEach name="Name15" axis="followSib" ptType="sibTrans" hideLastTrans="0" cnt="1">
            <dgm:layoutNode name="sibTrans">
              <dgm:alg type="conn">
                <dgm:param type="dim" val="1D"/>
                <dgm:param type="connRout" val="curve"/>
                <dgm:param type="begPts" val="radial"/>
                <dgm:param type="endPts" val="radial"/>
                <dgm:param type="endSty" val="noArr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connDist"/>
                <dgm:constr type="begPad" refType="connDist" fact="0.01"/>
                <dgm:constr type="endPad" refType="connDist" fact="0.01"/>
              </dgm:constrLst>
              <dgm:ruleLst/>
            </dgm:layoutNode>
          </dgm:forEach>
        </dgm:if>
        <dgm:else name="Name16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xmlns="" id="{399B3372-74CF-4E21-A4D4-286B22AA5A6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063762BE-D43C-49F5-99A5-BF49C695927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5766F-5EC0-4797-B4D1-777FCB005B11}" type="datetimeFigureOut">
              <a:rPr lang="en-US" smtClean="0"/>
              <a:t>11/27/2025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1989E452-9BCA-4AF5-9A9C-233BF410EAA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36BF9F63-CE4F-44E2-A07D-7E654DE9F57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0AC76B-F5B1-4D6E-BACD-2A80744AC92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514524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2B4B5EC-152C-4627-80C0-63B10D5574EF}" type="datetimeFigureOut">
              <a:rPr lang="en-US" smtClean="0"/>
              <a:t>11/27/2025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EEE60E-651F-40CC-AD73-C00F10CE42B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54175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48A87A34-81AB-432B-8DAE-1953F412C126}" type="datetimeFigureOut">
              <a:rPr lang="en-US" smtClean="0"/>
              <a:t>11/27/2025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42549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11/27/2025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88080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11/27/2025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42793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11/27/2025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6150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11/27/2025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20541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11/27/2025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66226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11/27/2025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41419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11/27/2025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94011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11/27/2025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42556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11/27/2025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32846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11/27/2025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24546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11/27/2025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00527238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11/27/2025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55312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11/27/2025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960505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11/27/2025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01607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11/27/2025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605348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11/27/2025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70629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pFill/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pFill/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smtClean="0"/>
              <a:pPr/>
              <a:t>11/27/2025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098732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  <p:sldLayoutId id="2147483681" r:id="rId12"/>
    <p:sldLayoutId id="2147483682" r:id="rId13"/>
    <p:sldLayoutId id="2147483683" r:id="rId14"/>
    <p:sldLayoutId id="2147483684" r:id="rId15"/>
    <p:sldLayoutId id="2147483685" r:id="rId16"/>
    <p:sldLayoutId id="2147483686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268D3E5-C7A3-47DF-A374-46BF83A699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71649" y="0"/>
            <a:ext cx="9934576" cy="3629025"/>
          </a:xfrm>
        </p:spPr>
        <p:txBody>
          <a:bodyPr>
            <a:normAutofit/>
          </a:bodyPr>
          <a:lstStyle/>
          <a:p>
            <a:pPr algn="ctr"/>
            <a:r>
              <a:rPr lang="en-US" sz="5400" dirty="0" err="1" smtClean="0">
                <a:latin typeface="OCR A Extended" panose="02010509020102010303" pitchFamily="50" charset="0"/>
              </a:rPr>
              <a:t>plastiground</a:t>
            </a:r>
            <a:r>
              <a:rPr lang="en-US" sz="5400" dirty="0" smtClean="0">
                <a:latin typeface="OCR A Extended" panose="02010509020102010303" pitchFamily="50" charset="0"/>
              </a:rPr>
              <a:t>:- Sustainable foundation filling using waste plastic</a:t>
            </a:r>
            <a:endParaRPr lang="en-US" sz="5400" dirty="0">
              <a:latin typeface="OCR A Extended" panose="02010509020102010303" pitchFamily="50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2E78725B-6E40-4D82-B375-7831D81C29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71650" y="4000500"/>
            <a:ext cx="9934576" cy="1655762"/>
          </a:xfrm>
        </p:spPr>
        <p:txBody>
          <a:bodyPr>
            <a:normAutofit/>
          </a:bodyPr>
          <a:lstStyle/>
          <a:p>
            <a:pPr algn="ctr"/>
            <a:r>
              <a:rPr lang="en-US" sz="2400" u="sng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tagline</a:t>
            </a:r>
          </a:p>
          <a:p>
            <a:pPr algn="ctr"/>
            <a:r>
              <a:rPr lang="en-US" sz="24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Plastic that pollutes -&gt; plastic that supports</a:t>
            </a:r>
            <a:endParaRPr lang="en-US" sz="2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8697863" y="5795445"/>
            <a:ext cx="3332212" cy="9387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Name : - </a:t>
            </a:r>
            <a:r>
              <a:rPr lang="en-US" dirty="0" smtClean="0"/>
              <a:t>JAYESH KAILAS NIKAM </a:t>
            </a:r>
          </a:p>
          <a:p>
            <a:r>
              <a:rPr lang="en-US" dirty="0" smtClean="0"/>
              <a:t>Contact :- 8237383417</a:t>
            </a:r>
          </a:p>
          <a:p>
            <a:r>
              <a:rPr lang="en-US" dirty="0" smtClean="0"/>
              <a:t>Email :- nikamj290@gmail.com</a:t>
            </a:r>
            <a:endParaRPr lang="en-US" dirty="0"/>
          </a:p>
        </p:txBody>
      </p:sp>
      <p:cxnSp>
        <p:nvCxnSpPr>
          <p:cNvPr id="6" name="Straight Connector 5"/>
          <p:cNvCxnSpPr/>
          <p:nvPr/>
        </p:nvCxnSpPr>
        <p:spPr>
          <a:xfrm>
            <a:off x="2547937" y="3825358"/>
            <a:ext cx="8382000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193592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4DB6CE4-2B13-4715-B5B2-615A55922C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>
                <a:latin typeface="Rockwell" panose="02060603020205020403" pitchFamily="18" charset="0"/>
              </a:rP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76375" y="2314575"/>
            <a:ext cx="897255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 smtClean="0"/>
              <a:t>India </a:t>
            </a:r>
            <a:r>
              <a:rPr lang="en-US" dirty="0"/>
              <a:t>generates massive non-reusable plastic waste that cannot be recycled or destroyed</a:t>
            </a:r>
            <a:r>
              <a:rPr lang="en-US" dirty="0" smtClean="0"/>
              <a:t>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 smtClean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 smtClean="0"/>
              <a:t>This </a:t>
            </a:r>
            <a:r>
              <a:rPr lang="en-US" dirty="0"/>
              <a:t>waste occupies huge landfill space and causes long-term environmental pollution</a:t>
            </a:r>
            <a:r>
              <a:rPr lang="en-US" dirty="0" smtClean="0"/>
              <a:t>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 smtClean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 smtClean="0"/>
              <a:t>There </a:t>
            </a:r>
            <a:r>
              <a:rPr lang="en-US" dirty="0"/>
              <a:t>is a need for a sustainable and permanent solution that disposes non-reusable plastic </a:t>
            </a:r>
            <a:r>
              <a:rPr lang="en-US" dirty="0" smtClean="0"/>
              <a:t>without </a:t>
            </a:r>
            <a:r>
              <a:rPr lang="en-US" dirty="0"/>
              <a:t>harming the environment</a:t>
            </a:r>
            <a:r>
              <a:rPr lang="en-US" dirty="0" smtClean="0"/>
              <a:t>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 smtClean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 smtClean="0"/>
              <a:t>Plastic anyway takes 400-500 years to decompose.</a:t>
            </a:r>
          </a:p>
        </p:txBody>
      </p:sp>
    </p:spTree>
    <p:extLst>
      <p:ext uri="{BB962C8B-B14F-4D97-AF65-F5344CB8AC3E}">
        <p14:creationId xmlns:p14="http://schemas.microsoft.com/office/powerpoint/2010/main" val="32536897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4DB6CE4-2B13-4715-B5B2-615A55922C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1285" y="313718"/>
            <a:ext cx="9905998" cy="1478570"/>
          </a:xfrm>
        </p:spPr>
        <p:txBody>
          <a:bodyPr>
            <a:normAutofit/>
          </a:bodyPr>
          <a:lstStyle/>
          <a:p>
            <a:r>
              <a:rPr lang="en-US" sz="4400" dirty="0" smtClean="0">
                <a:latin typeface="Rockwell" panose="02060603020205020403" pitchFamily="18" charset="0"/>
              </a:rPr>
              <a:t>Why this is </a:t>
            </a:r>
            <a:r>
              <a:rPr lang="en-US" sz="4400" dirty="0" err="1" smtClean="0">
                <a:latin typeface="Rockwell" panose="02060603020205020403" pitchFamily="18" charset="0"/>
              </a:rPr>
              <a:t>innoative</a:t>
            </a:r>
            <a:endParaRPr lang="en-US" sz="4400" dirty="0">
              <a:latin typeface="Rockwell" panose="02060603020205020403" pitchFamily="18" charset="0"/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xmlns="" id="{242FA989-6B7C-488C-85ED-CB8D01BA3254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60547013"/>
              </p:ext>
            </p:extLst>
          </p:nvPr>
        </p:nvGraphicFramePr>
        <p:xfrm>
          <a:off x="477061" y="1871331"/>
          <a:ext cx="11314446" cy="449225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1934170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190625" y="133350"/>
            <a:ext cx="486727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 smtClean="0"/>
              <a:t>Technical Description</a:t>
            </a:r>
            <a:endParaRPr lang="en-IN" sz="4400" dirty="0"/>
          </a:p>
        </p:txBody>
      </p:sp>
      <p:sp>
        <p:nvSpPr>
          <p:cNvPr id="5" name="TextBox 4"/>
          <p:cNvSpPr txBox="1"/>
          <p:nvPr/>
        </p:nvSpPr>
        <p:spPr>
          <a:xfrm>
            <a:off x="761999" y="1238250"/>
            <a:ext cx="41814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graphicFrame>
        <p:nvGraphicFramePr>
          <p:cNvPr id="6" name="Diagram 5"/>
          <p:cNvGraphicFramePr/>
          <p:nvPr>
            <p:extLst>
              <p:ext uri="{D42A27DB-BD31-4B8C-83A1-F6EECF244321}">
                <p14:modId xmlns:p14="http://schemas.microsoft.com/office/powerpoint/2010/main" val="3896389291"/>
              </p:ext>
            </p:extLst>
          </p:nvPr>
        </p:nvGraphicFramePr>
        <p:xfrm>
          <a:off x="1190625" y="912416"/>
          <a:ext cx="10538920" cy="588539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5127574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023146" y="559505"/>
            <a:ext cx="9603143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800" dirty="0">
                <a:latin typeface="Rockwell" panose="02060603020205020403" pitchFamily="18" charset="0"/>
              </a:rPr>
              <a:t>Load </a:t>
            </a:r>
            <a:r>
              <a:rPr lang="en-US" sz="4800" dirty="0" smtClean="0">
                <a:latin typeface="Rockwell" panose="02060603020205020403" pitchFamily="18" charset="0"/>
              </a:rPr>
              <a:t>Capacity:-</a:t>
            </a:r>
            <a:r>
              <a:rPr lang="en-US" sz="4800" dirty="0" smtClean="0"/>
              <a:t> </a:t>
            </a:r>
            <a:r>
              <a:rPr lang="en-US" sz="4000" dirty="0" smtClean="0"/>
              <a:t>( Foundation </a:t>
            </a:r>
            <a:r>
              <a:rPr lang="en-US" sz="4000" dirty="0" err="1"/>
              <a:t>S</a:t>
            </a:r>
            <a:r>
              <a:rPr lang="en-US" sz="4000" dirty="0" err="1" smtClean="0"/>
              <a:t>trenght</a:t>
            </a:r>
            <a:r>
              <a:rPr lang="en-US" sz="4000" dirty="0" smtClean="0"/>
              <a:t> )</a:t>
            </a:r>
            <a:endParaRPr lang="en-US" sz="4000" dirty="0" smtClean="0">
              <a:latin typeface="Rockwell" panose="02060603020205020403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434164" y="1496379"/>
            <a:ext cx="9771075" cy="40839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Compressed plastic blocks are:-</a:t>
            </a:r>
          </a:p>
          <a:p>
            <a:endParaRPr lang="en-US" dirty="0"/>
          </a:p>
          <a:p>
            <a:pPr marL="342900" indent="-342900">
              <a:buAutoNum type="arabicPeriod"/>
            </a:pPr>
            <a:r>
              <a:rPr lang="en-US" sz="2000" dirty="0" smtClean="0"/>
              <a:t>Lightweight </a:t>
            </a:r>
          </a:p>
          <a:p>
            <a:pPr marL="342900" indent="-342900">
              <a:buAutoNum type="arabicPeriod"/>
            </a:pPr>
            <a:r>
              <a:rPr lang="en-US" sz="2000" dirty="0" smtClean="0"/>
              <a:t>Strong</a:t>
            </a:r>
          </a:p>
          <a:p>
            <a:pPr marL="342900" indent="-342900">
              <a:buAutoNum type="arabicPeriod"/>
            </a:pPr>
            <a:r>
              <a:rPr lang="en-US" sz="2000" dirty="0" smtClean="0"/>
              <a:t>Water-resistant</a:t>
            </a:r>
          </a:p>
          <a:p>
            <a:pPr marL="342900" indent="-342900">
              <a:buAutoNum type="arabicPeriod"/>
            </a:pPr>
            <a:r>
              <a:rPr lang="en-US" sz="2000" dirty="0" smtClean="0"/>
              <a:t>Corrosion-free</a:t>
            </a:r>
          </a:p>
          <a:p>
            <a:endParaRPr lang="en-US" sz="2000" dirty="0" smtClean="0"/>
          </a:p>
          <a:p>
            <a:pPr marL="342900" indent="-342900">
              <a:buAutoNum type="arabicPeriod"/>
            </a:pPr>
            <a:endParaRPr lang="en-US" dirty="0" smtClean="0"/>
          </a:p>
          <a:p>
            <a:pPr marL="285750" indent="-285750">
              <a:buFont typeface="Wingdings" pitchFamily="2" charset="2"/>
              <a:buChar char="Ø"/>
            </a:pPr>
            <a:r>
              <a:rPr lang="en-US" dirty="0" smtClean="0"/>
              <a:t>	safe bearing capacity:- 120-180 </a:t>
            </a:r>
            <a:r>
              <a:rPr lang="en-US" dirty="0" err="1" smtClean="0"/>
              <a:t>kN</a:t>
            </a:r>
            <a:r>
              <a:rPr lang="en-US" dirty="0" smtClean="0"/>
              <a:t>/ </a:t>
            </a:r>
            <a:r>
              <a:rPr lang="en-US" dirty="0"/>
              <a:t>m</a:t>
            </a:r>
            <a:r>
              <a:rPr lang="en-US" baseline="30000" dirty="0"/>
              <a:t>3</a:t>
            </a:r>
            <a:r>
              <a:rPr lang="en-US" dirty="0" smtClean="0"/>
              <a:t>.</a:t>
            </a:r>
          </a:p>
          <a:p>
            <a:pPr marL="285750" indent="-285750">
              <a:buFont typeface="Wingdings" pitchFamily="2" charset="2"/>
              <a:buChar char="Ø"/>
            </a:pPr>
            <a:endParaRPr lang="en-US" dirty="0"/>
          </a:p>
          <a:p>
            <a:pPr marL="285750" indent="-285750">
              <a:buFont typeface="Wingdings" pitchFamily="2" charset="2"/>
              <a:buChar char="Ø"/>
            </a:pPr>
            <a:r>
              <a:rPr lang="en-US" dirty="0" smtClean="0"/>
              <a:t>	suitable for normal house foundations.</a:t>
            </a:r>
          </a:p>
          <a:p>
            <a:pPr marL="285750" indent="-285750">
              <a:buFont typeface="Wingdings" pitchFamily="2" charset="2"/>
              <a:buChar char="Ø"/>
            </a:pPr>
            <a:endParaRPr lang="en-US" dirty="0"/>
          </a:p>
          <a:p>
            <a:pPr marL="285750" indent="-285750">
              <a:buFont typeface="Wingdings" pitchFamily="2" charset="2"/>
              <a:buChar char="Ø"/>
            </a:pPr>
            <a:r>
              <a:rPr lang="en-US" dirty="0" smtClean="0"/>
              <a:t> </a:t>
            </a:r>
            <a:r>
              <a:rPr lang="en-US" dirty="0" err="1" smtClean="0"/>
              <a:t>Murrum</a:t>
            </a:r>
            <a:r>
              <a:rPr lang="en-US" dirty="0" smtClean="0"/>
              <a:t> (most common use in India )bearing </a:t>
            </a:r>
            <a:r>
              <a:rPr lang="en-US" dirty="0" err="1" smtClean="0"/>
              <a:t>Capactiy</a:t>
            </a:r>
            <a:r>
              <a:rPr lang="en-US" dirty="0" smtClean="0"/>
              <a:t> is also as plastic blocks:-120-200 </a:t>
            </a:r>
            <a:r>
              <a:rPr lang="en-US" dirty="0" err="1" smtClean="0"/>
              <a:t>kN</a:t>
            </a:r>
            <a:r>
              <a:rPr lang="en-US" dirty="0" smtClean="0"/>
              <a:t>/</a:t>
            </a:r>
            <a:r>
              <a:rPr lang="en-US" dirty="0"/>
              <a:t> m</a:t>
            </a:r>
            <a:r>
              <a:rPr lang="en-US" baseline="30000" dirty="0"/>
              <a:t>3</a:t>
            </a:r>
            <a:r>
              <a:rPr lang="en-US" dirty="0" smtClean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721794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20791" y="1836407"/>
            <a:ext cx="3792354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/>
              <a:t>ADVANTAGES </a:t>
            </a:r>
          </a:p>
          <a:p>
            <a:endParaRPr lang="en-US" dirty="0"/>
          </a:p>
          <a:p>
            <a:pPr marL="342900" indent="-342900">
              <a:buAutoNum type="arabicPeriod"/>
            </a:pPr>
            <a:r>
              <a:rPr lang="en-US" dirty="0" smtClean="0"/>
              <a:t>Zero </a:t>
            </a:r>
            <a:r>
              <a:rPr lang="en-US" dirty="0" err="1" smtClean="0"/>
              <a:t>landill</a:t>
            </a:r>
            <a:r>
              <a:rPr lang="en-US" dirty="0" smtClean="0"/>
              <a:t> waste.</a:t>
            </a:r>
          </a:p>
          <a:p>
            <a:pPr marL="342900" indent="-342900">
              <a:buAutoNum type="arabicPeriod"/>
            </a:pPr>
            <a:r>
              <a:rPr lang="en-US" dirty="0" smtClean="0"/>
              <a:t>Cheaper construction.</a:t>
            </a:r>
          </a:p>
          <a:p>
            <a:pPr marL="342900" indent="-342900">
              <a:buAutoNum type="arabicPeriod"/>
            </a:pPr>
            <a:r>
              <a:rPr lang="en-US" dirty="0" smtClean="0"/>
              <a:t>Strong and stable foundation.</a:t>
            </a:r>
          </a:p>
          <a:p>
            <a:pPr marL="342900" indent="-342900">
              <a:buAutoNum type="arabicPeriod"/>
            </a:pPr>
            <a:r>
              <a:rPr lang="en-US" dirty="0" smtClean="0"/>
              <a:t>Eco-friendly disposal.</a:t>
            </a:r>
          </a:p>
          <a:p>
            <a:pPr marL="342900" indent="-342900">
              <a:buAutoNum type="arabicPeriod"/>
            </a:pPr>
            <a:r>
              <a:rPr lang="en-US" dirty="0" smtClean="0"/>
              <a:t>Long-term stability ( 500 years ).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03470" y="1836407"/>
            <a:ext cx="4613709" cy="25237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DISADVANTAGES</a:t>
            </a:r>
          </a:p>
          <a:p>
            <a:endParaRPr lang="en-US" dirty="0"/>
          </a:p>
          <a:p>
            <a:pPr marL="342900" indent="-342900">
              <a:buAutoNum type="arabicPeriod"/>
            </a:pPr>
            <a:r>
              <a:rPr lang="en-US" dirty="0" smtClean="0"/>
              <a:t>Proper compaction required.</a:t>
            </a:r>
          </a:p>
          <a:p>
            <a:pPr marL="342900" indent="-342900">
              <a:buAutoNum type="arabicPeriod"/>
            </a:pPr>
            <a:r>
              <a:rPr lang="en-US" dirty="0" smtClean="0"/>
              <a:t>Not ideal in flood-prone areas.</a:t>
            </a:r>
          </a:p>
          <a:p>
            <a:pPr marL="342900" indent="-342900">
              <a:buAutoNum type="arabicPeriod"/>
            </a:pPr>
            <a:r>
              <a:rPr lang="en-US" dirty="0" smtClean="0"/>
              <a:t>Not for structural elements. ( only for filling ). </a:t>
            </a:r>
          </a:p>
          <a:p>
            <a:pPr marL="342900" indent="-342900">
              <a:buAutoNum type="arabicPeriod"/>
            </a:pPr>
            <a:r>
              <a:rPr lang="en-US" dirty="0" smtClean="0"/>
              <a:t>Lower load capacity than concrete.</a:t>
            </a:r>
          </a:p>
          <a:p>
            <a:pPr marL="342900" indent="-342900">
              <a:buAutoNum type="arabicPeriod"/>
            </a:pPr>
            <a:r>
              <a:rPr lang="en-US" dirty="0" smtClean="0"/>
              <a:t>Fire resistance is lower.</a:t>
            </a:r>
          </a:p>
          <a:p>
            <a:pPr marL="342900" indent="-342900">
              <a:buAutoNum type="arabicPeriod"/>
            </a:pPr>
            <a:endParaRPr lang="en-US" dirty="0" smtClean="0"/>
          </a:p>
        </p:txBody>
      </p:sp>
      <p:sp>
        <p:nvSpPr>
          <p:cNvPr id="4" name="TextBox 3"/>
          <p:cNvSpPr txBox="1"/>
          <p:nvPr/>
        </p:nvSpPr>
        <p:spPr>
          <a:xfrm>
            <a:off x="1390850" y="452387"/>
            <a:ext cx="982739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u="sng" dirty="0" smtClean="0">
                <a:solidFill>
                  <a:srgbClr val="FFFF00"/>
                </a:solidFill>
              </a:rPr>
              <a:t>ADVANTAGES AND DISADVANTAGES OF THE PLASTIC :-</a:t>
            </a:r>
            <a:endParaRPr lang="en-US" sz="3200" u="sng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449127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270535" y="794802"/>
            <a:ext cx="806597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 smtClean="0"/>
              <a:t>SOLUTION STATEMENT:-  </a:t>
            </a:r>
            <a:endParaRPr lang="en-US" sz="3600" dirty="0"/>
          </a:p>
        </p:txBody>
      </p:sp>
      <p:sp>
        <p:nvSpPr>
          <p:cNvPr id="3" name="TextBox 2"/>
          <p:cNvSpPr txBox="1"/>
          <p:nvPr/>
        </p:nvSpPr>
        <p:spPr>
          <a:xfrm>
            <a:off x="1270535" y="2059806"/>
            <a:ext cx="976964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	“We propose a construction-based plastic waste utilization method where compressed non-reusable plastic blocks are inserted inside house foundations during the soil-filling stage. This technique permanently traps plastic inside the structure, reduces landfill load, increases base stability, and lowers construction cost.”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50410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694046" y="539015"/>
            <a:ext cx="9346131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u="sng" dirty="0" smtClean="0"/>
              <a:t>Normally assume we are building 1,000 </a:t>
            </a:r>
            <a:r>
              <a:rPr lang="en-US" sz="2400" u="sng" dirty="0" err="1" smtClean="0"/>
              <a:t>sq</a:t>
            </a:r>
            <a:r>
              <a:rPr lang="en-US" sz="2400" u="sng" dirty="0" smtClean="0"/>
              <a:t> </a:t>
            </a:r>
            <a:r>
              <a:rPr lang="en-US" sz="2400" u="sng" dirty="0" err="1" smtClean="0"/>
              <a:t>ft</a:t>
            </a:r>
            <a:r>
              <a:rPr lang="en-US" sz="2400" u="sng" dirty="0" smtClean="0"/>
              <a:t> and 5 </a:t>
            </a:r>
            <a:r>
              <a:rPr lang="en-US" sz="2400" u="sng" dirty="0" err="1" smtClean="0"/>
              <a:t>ft</a:t>
            </a:r>
            <a:r>
              <a:rPr lang="en-US" sz="2400" u="sng" dirty="0" smtClean="0"/>
              <a:t> depth of house.</a:t>
            </a:r>
          </a:p>
          <a:p>
            <a:endParaRPr lang="en-US" dirty="0"/>
          </a:p>
          <a:p>
            <a:r>
              <a:rPr lang="en-US" dirty="0" smtClean="0"/>
              <a:t>Calculation :- </a:t>
            </a:r>
          </a:p>
          <a:p>
            <a:endParaRPr lang="en-US" dirty="0" smtClean="0"/>
          </a:p>
          <a:p>
            <a:r>
              <a:rPr lang="en-US" dirty="0" smtClean="0"/>
              <a:t>Assumption used-</a:t>
            </a:r>
          </a:p>
          <a:p>
            <a:endParaRPr lang="en-US" dirty="0"/>
          </a:p>
          <a:p>
            <a:pPr marL="285750" indent="-285750">
              <a:buFont typeface="Wingdings" pitchFamily="2" charset="2"/>
              <a:buChar char="Ø"/>
            </a:pPr>
            <a:r>
              <a:rPr lang="en-US" dirty="0" smtClean="0"/>
              <a:t>House area=1,000 ft2 = 92.9034 m</a:t>
            </a:r>
            <a:r>
              <a:rPr lang="en-US" baseline="30000" dirty="0"/>
              <a:t>2</a:t>
            </a:r>
            <a:r>
              <a:rPr lang="en-US" dirty="0" smtClean="0"/>
              <a:t>.</a:t>
            </a:r>
          </a:p>
          <a:p>
            <a:pPr marL="285750" indent="-285750">
              <a:buFont typeface="Wingdings" pitchFamily="2" charset="2"/>
              <a:buChar char="Ø"/>
            </a:pPr>
            <a:endParaRPr lang="en-US" dirty="0" smtClean="0"/>
          </a:p>
          <a:p>
            <a:pPr marL="285750" indent="-285750">
              <a:buFont typeface="Wingdings" pitchFamily="2" charset="2"/>
              <a:buChar char="Ø"/>
            </a:pPr>
            <a:r>
              <a:rPr lang="en-US" dirty="0" smtClean="0"/>
              <a:t>Depth = 5 </a:t>
            </a:r>
            <a:r>
              <a:rPr lang="en-US" dirty="0" err="1" smtClean="0"/>
              <a:t>ft</a:t>
            </a:r>
            <a:r>
              <a:rPr lang="en-US" dirty="0" smtClean="0"/>
              <a:t> = 1.524 m</a:t>
            </a:r>
          </a:p>
          <a:p>
            <a:pPr marL="285750" indent="-285750">
              <a:buFont typeface="Wingdings" pitchFamily="2" charset="2"/>
              <a:buChar char="Ø"/>
            </a:pPr>
            <a:endParaRPr lang="en-US" dirty="0"/>
          </a:p>
          <a:p>
            <a:pPr marL="285750" indent="-285750">
              <a:buFont typeface="Wingdings" pitchFamily="2" charset="2"/>
              <a:buChar char="Ø"/>
            </a:pPr>
            <a:r>
              <a:rPr lang="en-US" dirty="0" smtClean="0"/>
              <a:t>Volume of fill = 92.9034 X 1.524 = </a:t>
            </a:r>
            <a:r>
              <a:rPr lang="en-US" dirty="0" smtClean="0">
                <a:solidFill>
                  <a:srgbClr val="FFFF00"/>
                </a:solidFill>
              </a:rPr>
              <a:t>141.584 </a:t>
            </a:r>
            <a:r>
              <a:rPr lang="en-US" dirty="0" smtClean="0"/>
              <a:t>m</a:t>
            </a:r>
            <a:r>
              <a:rPr lang="en-US" baseline="30000" dirty="0" smtClean="0"/>
              <a:t>3</a:t>
            </a:r>
            <a:endParaRPr lang="en-US" dirty="0" smtClean="0"/>
          </a:p>
          <a:p>
            <a:endParaRPr lang="en-US" dirty="0"/>
          </a:p>
          <a:p>
            <a:endParaRPr lang="en-US" dirty="0"/>
          </a:p>
          <a:p>
            <a:pPr marL="285750" indent="-285750">
              <a:buFont typeface="Wingdings" pitchFamily="2" charset="2"/>
              <a:buChar char="ü"/>
            </a:pPr>
            <a:r>
              <a:rPr lang="en-US" dirty="0"/>
              <a:t>	</a:t>
            </a:r>
            <a:r>
              <a:rPr lang="en-US" dirty="0" smtClean="0"/>
              <a:t>	plastic fraction (</a:t>
            </a:r>
            <a:r>
              <a:rPr lang="en-US" u="sng" dirty="0" smtClean="0"/>
              <a:t>portion of that volume occupied by compressed plastic blocks</a:t>
            </a:r>
            <a:r>
              <a:rPr lang="en-US" dirty="0" smtClean="0"/>
              <a:t>): 5%, 10%,</a:t>
            </a:r>
          </a:p>
          <a:p>
            <a:r>
              <a:rPr lang="en-US" dirty="0" smtClean="0"/>
              <a:t>		 20%, 30% ( </a:t>
            </a:r>
            <a:r>
              <a:rPr lang="en-US" u="sng" dirty="0" smtClean="0"/>
              <a:t>typical design / packing scenarios</a:t>
            </a:r>
            <a:r>
              <a:rPr lang="en-US" dirty="0" smtClean="0"/>
              <a:t>).</a:t>
            </a:r>
          </a:p>
          <a:p>
            <a:pPr marL="285750" indent="-285750">
              <a:buFont typeface="Wingdings" pitchFamily="2" charset="2"/>
              <a:buChar char="ü"/>
            </a:pPr>
            <a:endParaRPr lang="en-US" dirty="0"/>
          </a:p>
          <a:p>
            <a:pPr marL="285750" indent="-285750">
              <a:buFont typeface="Wingdings" pitchFamily="2" charset="2"/>
              <a:buChar char="ü"/>
            </a:pPr>
            <a:r>
              <a:rPr lang="en-US" dirty="0" smtClean="0"/>
              <a:t>		block density range:- </a:t>
            </a:r>
            <a:r>
              <a:rPr lang="en-US" dirty="0" smtClean="0">
                <a:solidFill>
                  <a:srgbClr val="FFFF00"/>
                </a:solidFill>
              </a:rPr>
              <a:t>400-500 kg/</a:t>
            </a:r>
            <a:r>
              <a:rPr lang="en-US" dirty="0"/>
              <a:t> m</a:t>
            </a:r>
            <a:r>
              <a:rPr lang="en-US" baseline="30000" dirty="0"/>
              <a:t>3</a:t>
            </a:r>
            <a:endParaRPr lang="en-US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261606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506074133"/>
                  </p:ext>
                </p:extLst>
              </p:nvPr>
            </p:nvGraphicFramePr>
            <p:xfrm>
              <a:off x="915468" y="1395664"/>
              <a:ext cx="10365340" cy="4408372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2591335"/>
                    <a:gridCol w="2591335"/>
                    <a:gridCol w="2591335"/>
                    <a:gridCol w="2591335"/>
                  </a:tblGrid>
                  <a:tr h="81308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Plastic fraction</a:t>
                          </a:r>
                          <a:endParaRPr lang="en-US" sz="24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a:rPr lang="en-US" sz="2400" i="1" smtClean="0">
                                  <a:latin typeface="Cambria Math"/>
                                  <a:ea typeface="Cambria Math"/>
                                </a:rPr>
                                <m:t>𝜌</m:t>
                              </m:r>
                            </m:oMath>
                          </a14:m>
                          <a:r>
                            <a:rPr lang="en-US" sz="2400" dirty="0" smtClean="0"/>
                            <a:t>=400 kg/</a:t>
                          </a:r>
                          <a:r>
                            <a:rPr lang="en-US" sz="1800" kern="1200" dirty="0" smtClean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m</a:t>
                          </a:r>
                          <a:r>
                            <a:rPr lang="en-US" sz="1800" kern="1200" baseline="30000" dirty="0" smtClean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3</a:t>
                          </a:r>
                          <a:endParaRPr lang="en-US" sz="24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a:rPr lang="en-US" sz="2400" i="1" smtClean="0">
                                  <a:latin typeface="Cambria Math"/>
                                  <a:ea typeface="Cambria Math"/>
                                </a:rPr>
                                <m:t>𝜌</m:t>
                              </m:r>
                            </m:oMath>
                          </a14:m>
                          <a:r>
                            <a:rPr lang="en-US" sz="2400" dirty="0" smtClean="0"/>
                            <a:t>=500 kg/</a:t>
                          </a:r>
                          <a:r>
                            <a:rPr lang="en-US" sz="1800" kern="1200" dirty="0" smtClean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m</a:t>
                          </a:r>
                          <a:r>
                            <a:rPr lang="en-US" sz="1800" kern="1200" baseline="30000" dirty="0" smtClean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3</a:t>
                          </a:r>
                          <a:endParaRPr lang="en-US" sz="24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a:rPr lang="en-US" sz="2400" i="1" smtClean="0">
                                  <a:latin typeface="Cambria Math"/>
                                  <a:ea typeface="Cambria Math"/>
                                </a:rPr>
                                <m:t>𝜌</m:t>
                              </m:r>
                            </m:oMath>
                          </a14:m>
                          <a:r>
                            <a:rPr lang="en-US" sz="2400" dirty="0" smtClean="0"/>
                            <a:t>=600 kg/</a:t>
                          </a:r>
                          <a:r>
                            <a:rPr lang="en-US" sz="1800" kern="1200" dirty="0" smtClean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m</a:t>
                          </a:r>
                          <a:r>
                            <a:rPr lang="en-US" sz="1800" kern="1200" baseline="30000" dirty="0" smtClean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3</a:t>
                          </a:r>
                          <a:endParaRPr lang="en-US" sz="24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71905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5 %</a:t>
                          </a:r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2.832 </a:t>
                          </a:r>
                          <a:r>
                            <a:rPr lang="en-US" dirty="0" err="1" smtClean="0"/>
                            <a:t>tonnes</a:t>
                          </a:r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3.540</a:t>
                          </a:r>
                          <a:r>
                            <a:rPr lang="en-US" baseline="0" dirty="0" smtClean="0"/>
                            <a:t> </a:t>
                          </a:r>
                          <a:r>
                            <a:rPr lang="en-US" dirty="0" err="1" smtClean="0"/>
                            <a:t>tonnes</a:t>
                          </a:r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4.248 </a:t>
                          </a:r>
                          <a:r>
                            <a:rPr lang="en-US" dirty="0" err="1" smtClean="0"/>
                            <a:t>tonnes</a:t>
                          </a:r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71905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10 %</a:t>
                          </a:r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5.663 </a:t>
                          </a:r>
                          <a:r>
                            <a:rPr lang="en-US" dirty="0" err="1" smtClean="0"/>
                            <a:t>tonnes</a:t>
                          </a:r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7.079 </a:t>
                          </a:r>
                          <a:r>
                            <a:rPr lang="en-US" dirty="0" err="1" smtClean="0"/>
                            <a:t>tonnes</a:t>
                          </a:r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8.495 </a:t>
                          </a:r>
                          <a:r>
                            <a:rPr lang="en-US" dirty="0" err="1" smtClean="0"/>
                            <a:t>tonnes</a:t>
                          </a:r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71905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20 %</a:t>
                          </a:r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11.327</a:t>
                          </a:r>
                          <a:r>
                            <a:rPr lang="en-US" baseline="0" dirty="0" smtClean="0"/>
                            <a:t> </a:t>
                          </a:r>
                          <a:r>
                            <a:rPr lang="en-US" dirty="0" err="1" smtClean="0"/>
                            <a:t>tonnes</a:t>
                          </a:r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 smtClean="0"/>
                            <a:t>14.158 </a:t>
                          </a:r>
                          <a:r>
                            <a:rPr lang="en-US" dirty="0" err="1" smtClean="0"/>
                            <a:t>tonnes</a:t>
                          </a:r>
                          <a:endParaRPr lang="en-US" dirty="0" smtClean="0"/>
                        </a:p>
                        <a:p>
                          <a:pPr algn="ctr"/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16.990 </a:t>
                          </a:r>
                          <a:r>
                            <a:rPr lang="en-US" dirty="0" err="1" smtClean="0"/>
                            <a:t>tonnes</a:t>
                          </a:r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71905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30 %</a:t>
                          </a:r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16.990</a:t>
                          </a:r>
                          <a:r>
                            <a:rPr lang="en-US" baseline="0" dirty="0" smtClean="0"/>
                            <a:t> </a:t>
                          </a:r>
                          <a:r>
                            <a:rPr lang="en-US" dirty="0" err="1" smtClean="0"/>
                            <a:t>tonnes</a:t>
                          </a:r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21.238</a:t>
                          </a:r>
                          <a:r>
                            <a:rPr lang="en-US" baseline="0" dirty="0" smtClean="0"/>
                            <a:t> </a:t>
                          </a:r>
                          <a:r>
                            <a:rPr lang="en-US" dirty="0" err="1" smtClean="0"/>
                            <a:t>tonnes</a:t>
                          </a:r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25.485</a:t>
                          </a:r>
                          <a:r>
                            <a:rPr lang="en-US" baseline="0" dirty="0" smtClean="0"/>
                            <a:t> </a:t>
                          </a:r>
                          <a:r>
                            <a:rPr lang="en-US" dirty="0" err="1" smtClean="0"/>
                            <a:t>tonnes</a:t>
                          </a:r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71905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100 % (all fill plastic</a:t>
                          </a:r>
                          <a:r>
                            <a:rPr lang="en-US" baseline="0" dirty="0" smtClean="0"/>
                            <a:t> )</a:t>
                          </a:r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56.634 </a:t>
                          </a:r>
                          <a:r>
                            <a:rPr lang="en-US" dirty="0" err="1" smtClean="0"/>
                            <a:t>tonnes</a:t>
                          </a:r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70.792 </a:t>
                          </a:r>
                          <a:r>
                            <a:rPr lang="en-US" dirty="0" err="1" smtClean="0"/>
                            <a:t>tonnes</a:t>
                          </a:r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84.951</a:t>
                          </a:r>
                          <a:r>
                            <a:rPr lang="en-US" baseline="0" dirty="0" smtClean="0"/>
                            <a:t> </a:t>
                          </a:r>
                          <a:r>
                            <a:rPr lang="en-US" dirty="0" err="1" smtClean="0"/>
                            <a:t>tonnes</a:t>
                          </a:r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</a:tbl>
              </a:graphicData>
            </a:graphic>
          </p:graphicFrame>
        </mc:Choice>
        <mc:Fallback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506074133"/>
                  </p:ext>
                </p:extLst>
              </p:nvPr>
            </p:nvGraphicFramePr>
            <p:xfrm>
              <a:off x="915468" y="1395664"/>
              <a:ext cx="10365340" cy="4408372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2591335"/>
                    <a:gridCol w="2591335"/>
                    <a:gridCol w="2591335"/>
                    <a:gridCol w="2591335"/>
                  </a:tblGrid>
                  <a:tr h="81308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Plastic fraction</a:t>
                          </a:r>
                          <a:endParaRPr lang="en-US" sz="24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2"/>
                          <a:stretch>
                            <a:fillRect l="-99765" t="-6015" r="-199531" b="-44436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2"/>
                          <a:stretch>
                            <a:fillRect l="-200235" t="-6015" r="-100000" b="-44436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2"/>
                          <a:stretch>
                            <a:fillRect l="-300235" t="-6015" b="-444361"/>
                          </a:stretch>
                        </a:blipFill>
                      </a:tcPr>
                    </a:tc>
                  </a:tr>
                  <a:tr h="71905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5 %</a:t>
                          </a:r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2.832 </a:t>
                          </a:r>
                          <a:r>
                            <a:rPr lang="en-US" dirty="0" err="1" smtClean="0"/>
                            <a:t>tonnes</a:t>
                          </a:r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3.540</a:t>
                          </a:r>
                          <a:r>
                            <a:rPr lang="en-US" baseline="0" dirty="0" smtClean="0"/>
                            <a:t> </a:t>
                          </a:r>
                          <a:r>
                            <a:rPr lang="en-US" dirty="0" err="1" smtClean="0"/>
                            <a:t>tonnes</a:t>
                          </a:r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4.248 </a:t>
                          </a:r>
                          <a:r>
                            <a:rPr lang="en-US" dirty="0" err="1" smtClean="0"/>
                            <a:t>tonnes</a:t>
                          </a:r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71905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10 %</a:t>
                          </a:r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5.663 </a:t>
                          </a:r>
                          <a:r>
                            <a:rPr lang="en-US" dirty="0" err="1" smtClean="0"/>
                            <a:t>tonnes</a:t>
                          </a:r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7.079 </a:t>
                          </a:r>
                          <a:r>
                            <a:rPr lang="en-US" dirty="0" err="1" smtClean="0"/>
                            <a:t>tonnes</a:t>
                          </a:r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8.495 </a:t>
                          </a:r>
                          <a:r>
                            <a:rPr lang="en-US" dirty="0" err="1" smtClean="0"/>
                            <a:t>tonnes</a:t>
                          </a:r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71905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20 %</a:t>
                          </a:r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11.327</a:t>
                          </a:r>
                          <a:r>
                            <a:rPr lang="en-US" baseline="0" dirty="0" smtClean="0"/>
                            <a:t> </a:t>
                          </a:r>
                          <a:r>
                            <a:rPr lang="en-US" dirty="0" err="1" smtClean="0"/>
                            <a:t>tonnes</a:t>
                          </a:r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 smtClean="0"/>
                            <a:t>14.158 </a:t>
                          </a:r>
                          <a:r>
                            <a:rPr lang="en-US" dirty="0" err="1" smtClean="0"/>
                            <a:t>tonnes</a:t>
                          </a:r>
                          <a:endParaRPr lang="en-US" dirty="0" smtClean="0"/>
                        </a:p>
                        <a:p>
                          <a:pPr algn="ctr"/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16.990 </a:t>
                          </a:r>
                          <a:r>
                            <a:rPr lang="en-US" dirty="0" err="1" smtClean="0"/>
                            <a:t>tonnes</a:t>
                          </a:r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71905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30 %</a:t>
                          </a:r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16.990</a:t>
                          </a:r>
                          <a:r>
                            <a:rPr lang="en-US" baseline="0" dirty="0" smtClean="0"/>
                            <a:t> </a:t>
                          </a:r>
                          <a:r>
                            <a:rPr lang="en-US" dirty="0" err="1" smtClean="0"/>
                            <a:t>tonnes</a:t>
                          </a:r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21.238</a:t>
                          </a:r>
                          <a:r>
                            <a:rPr lang="en-US" baseline="0" dirty="0" smtClean="0"/>
                            <a:t> </a:t>
                          </a:r>
                          <a:r>
                            <a:rPr lang="en-US" dirty="0" err="1" smtClean="0"/>
                            <a:t>tonnes</a:t>
                          </a:r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25.485</a:t>
                          </a:r>
                          <a:r>
                            <a:rPr lang="en-US" baseline="0" dirty="0" smtClean="0"/>
                            <a:t> </a:t>
                          </a:r>
                          <a:r>
                            <a:rPr lang="en-US" dirty="0" err="1" smtClean="0"/>
                            <a:t>tonnes</a:t>
                          </a:r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71905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100 % (all fill plastic</a:t>
                          </a:r>
                          <a:r>
                            <a:rPr lang="en-US" baseline="0" dirty="0" smtClean="0"/>
                            <a:t> )</a:t>
                          </a:r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56.634 </a:t>
                          </a:r>
                          <a:r>
                            <a:rPr lang="en-US" dirty="0" err="1" smtClean="0"/>
                            <a:t>tonnes</a:t>
                          </a:r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70.792 </a:t>
                          </a:r>
                          <a:r>
                            <a:rPr lang="en-US" dirty="0" err="1" smtClean="0"/>
                            <a:t>tonnes</a:t>
                          </a:r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84.951</a:t>
                          </a:r>
                          <a:r>
                            <a:rPr lang="en-US" baseline="0" dirty="0" smtClean="0"/>
                            <a:t> </a:t>
                          </a:r>
                          <a:r>
                            <a:rPr lang="en-US" dirty="0" err="1" smtClean="0"/>
                            <a:t>tonnes</a:t>
                          </a:r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/>
              <p:cNvSpPr txBox="1"/>
              <p:nvPr/>
            </p:nvSpPr>
            <p:spPr>
              <a:xfrm>
                <a:off x="1424538" y="500514"/>
                <a:ext cx="959638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 smtClean="0"/>
                  <a:t>Results- mass of plastic that can be trapped (</a:t>
                </a:r>
                <a:r>
                  <a:rPr lang="en-US" sz="2400" dirty="0" err="1"/>
                  <a:t>T</a:t>
                </a:r>
                <a:r>
                  <a:rPr lang="en-US" sz="2400" dirty="0" err="1" smtClean="0"/>
                  <a:t>onnes</a:t>
                </a:r>
                <a:r>
                  <a:rPr lang="en-US" sz="2400" dirty="0" smtClean="0"/>
                  <a:t>):- (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  <a:ea typeface="Cambria Math"/>
                      </a:rPr>
                      <m:t>𝜌</m:t>
                    </m:r>
                  </m:oMath>
                </a14:m>
                <a:r>
                  <a:rPr lang="en-US" sz="2400" dirty="0" smtClean="0"/>
                  <a:t> –&gt; density )</a:t>
                </a:r>
              </a:p>
            </p:txBody>
          </p:sp>
        </mc:Choice>
        <mc:Fallback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24538" y="500514"/>
                <a:ext cx="9596388" cy="461665"/>
              </a:xfrm>
              <a:prstGeom prst="rect">
                <a:avLst/>
              </a:prstGeom>
              <a:blipFill rotWithShape="1">
                <a:blip r:embed="rId3"/>
                <a:stretch>
                  <a:fillRect l="-1017" t="-10526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918686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388093" y="2281188"/>
            <a:ext cx="488000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0" dirty="0" smtClean="0"/>
              <a:t>Thank you</a:t>
            </a:r>
            <a:endParaRPr lang="en-US" sz="8000" dirty="0"/>
          </a:p>
        </p:txBody>
      </p:sp>
      <p:sp>
        <p:nvSpPr>
          <p:cNvPr id="4" name="TextBox 3"/>
          <p:cNvSpPr txBox="1"/>
          <p:nvPr/>
        </p:nvSpPr>
        <p:spPr>
          <a:xfrm>
            <a:off x="3696101" y="4485721"/>
            <a:ext cx="396560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Name : - JAYESH KAILAS NIKAM </a:t>
            </a:r>
            <a:endParaRPr lang="en-US" dirty="0" smtClean="0"/>
          </a:p>
          <a:p>
            <a:endParaRPr lang="en-US" dirty="0"/>
          </a:p>
          <a:p>
            <a:r>
              <a:rPr lang="en-US" dirty="0"/>
              <a:t>Contact :- </a:t>
            </a:r>
            <a:r>
              <a:rPr lang="en-US" dirty="0" smtClean="0"/>
              <a:t>8237383417 / 7420811351</a:t>
            </a:r>
            <a:endParaRPr lang="en-US" dirty="0"/>
          </a:p>
          <a:p>
            <a:r>
              <a:rPr lang="en-US" dirty="0"/>
              <a:t>Email :- nikamj290@gmail.com</a:t>
            </a:r>
          </a:p>
        </p:txBody>
      </p:sp>
    </p:spTree>
    <p:extLst>
      <p:ext uri="{BB962C8B-B14F-4D97-AF65-F5344CB8AC3E}">
        <p14:creationId xmlns:p14="http://schemas.microsoft.com/office/powerpoint/2010/main" val="34957251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Blue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Circuit">
      <a:majorFont>
        <a:latin typeface="Tw Cen M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4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4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  <a:hueMod val="106000"/>
                <a:satMod val="140000"/>
                <a:lumMod val="42000"/>
              </a:schemeClr>
              <a:schemeClr val="phClr">
                <a:tint val="98000"/>
                <a:hueMod val="92000"/>
                <a:satMod val="220000"/>
                <a:lumMod val="9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TF77815013_Problem-solution cycle_RVA_v3" id="{20834410-FC37-46AC-ACB7-FB202F8C4BA9}" vid="{1ED24379-BFF7-4E2F-B7EC-A47C906E21A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96291512c1ee715ab617f4c07df79fc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8256c27c40ca5c40ce1cf6c44f0205df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7866CFD-F94E-4AE5-ACEA-86FEC0F48A10}">
  <ds:schemaRefs>
    <ds:schemaRef ds:uri="http://schemas.microsoft.com/office/infopath/2007/PartnerControls"/>
    <ds:schemaRef ds:uri="http://purl.org/dc/elements/1.1/"/>
    <ds:schemaRef ds:uri="http://schemas.microsoft.com/office/2006/metadata/properties"/>
    <ds:schemaRef ds:uri="http://purl.org/dc/terms/"/>
    <ds:schemaRef ds:uri="http://schemas.openxmlformats.org/package/2006/metadata/core-properties"/>
    <ds:schemaRef ds:uri="16c05727-aa75-4e4a-9b5f-8a80a1165891"/>
    <ds:schemaRef ds:uri="http://schemas.microsoft.com/office/2006/documentManagement/types"/>
    <ds:schemaRef ds:uri="71af3243-3dd4-4a8d-8c0d-dd76da1f02a5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A7C0B241-13E5-418D-8920-D23491E2D2C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B579702B-25C7-40D7-9E29-7686B11A9660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Problemsolution cycle </Template>
  <TotalTime>0</TotalTime>
  <Words>419</Words>
  <Application>Microsoft Office PowerPoint</Application>
  <PresentationFormat>Custom</PresentationFormat>
  <Paragraphs>125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Circuit</vt:lpstr>
      <vt:lpstr>plastiground:- Sustainable foundation filling using waste plastic</vt:lpstr>
      <vt:lpstr>The Problem</vt:lpstr>
      <vt:lpstr>Why this is innoative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cp:lastModifiedBy/>
  <cp:revision>1</cp:revision>
  <dcterms:created xsi:type="dcterms:W3CDTF">2025-11-24T19:33:21Z</dcterms:created>
  <dcterms:modified xsi:type="dcterms:W3CDTF">2025-11-27T15:28:28Z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